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9" r:id="rId10"/>
    <p:sldId id="260" r:id="rId11"/>
    <p:sldId id="261" r:id="rId12"/>
    <p:sldId id="262" r:id="rId13"/>
    <p:sldId id="263" r:id="rId14"/>
    <p:sldId id="265" r:id="rId16"/>
    <p:sldId id="267" r:id="rId18"/>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7" r:id="rId198"/>
    <p:sldId id="448" r:id="rId199"/>
    <p:sldId id="449" r:id="rId200"/>
    <p:sldId id="452" r:id="rId203"/>
    <p:sldId id="453" r:id="rId20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6" Type="http://schemas.openxmlformats.org/officeDocument/2006/relationships/slide" Target="slides/slide10.xml"/><Relationship Id="rId18" Type="http://schemas.openxmlformats.org/officeDocument/2006/relationships/slide" Target="slides/slide12.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3" Type="http://schemas.openxmlformats.org/officeDocument/2006/relationships/slide" Target="slides/slide197.xml"/><Relationship Id="rId204" Type="http://schemas.openxmlformats.org/officeDocument/2006/relationships/slide" Target="slides/slide19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Share of the KCNA exam (%)</c:v>
                </c:pt>
              </c:strCache>
            </c:strRef>
          </c:tx>
          <c:spPr>
            <a:solidFill>
              <a:srgbClr val="1F6FEB"/>
            </a:solidFill>
          </c:spPr>
          <c:cat>
            <c:strRef>
              <c:f>Sheet1!$A$2:$A$6</c:f>
              <c:strCache>
                <c:ptCount val="5"/>
                <c:pt idx="0">
                  <c:v>T1 Fundamentals</c:v>
                </c:pt>
                <c:pt idx="1">
                  <c:v>T2 Orchestration</c:v>
                </c:pt>
                <c:pt idx="2">
                  <c:v>T3 Cloud Native</c:v>
                </c:pt>
                <c:pt idx="3">
                  <c:v>T4 Observability</c:v>
                </c:pt>
                <c:pt idx="4">
                  <c:v>T5 Delivery</c:v>
                </c:pt>
              </c:strCache>
            </c:strRef>
          </c:cat>
          <c:val>
            <c:numRef>
              <c:f>Sheet1!$B$2:$B$6</c:f>
              <c:numCache>
                <c:formatCode>0"%"</c:formatCode>
                <c:ptCount val="5"/>
                <c:pt idx="0">
                  <c:v>46</c:v>
                </c:pt>
                <c:pt idx="1">
                  <c:v>22</c:v>
                </c:pt>
                <c:pt idx="2">
                  <c:v>16</c:v>
                </c:pt>
                <c:pt idx="3">
                  <c:v>8</c:v>
                </c:pt>
                <c:pt idx="4">
                  <c:v>8</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829800" y="603504"/>
            <a:ext cx="1691640"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29800" y="713232"/>
            <a:ext cx="1691640" cy="475488"/>
          </a:xfrm>
          <a:prstGeom prst="rect">
            <a:avLst/>
          </a:prstGeom>
          <a:noFill/>
        </p:spPr>
        <p:txBody>
          <a:bodyPr wrap="square" anchor="t">
            <a:spAutoFit/>
          </a:bodyPr>
          <a:lstStyle/>
          <a:p>
            <a:pPr algn="ctr">
              <a:spcAft>
                <a:spcPts val="400"/>
              </a:spcAft>
            </a:pPr>
            <a:r>
              <a:rPr sz="2200" b="1">
                <a:solidFill>
                  <a:srgbClr val="FFFFFF"/>
                </a:solidFill>
                <a:latin typeface="Arial"/>
              </a:rPr>
              <a:t>K8s</a:t>
            </a:r>
          </a:p>
        </p:txBody>
      </p:sp>
      <p:sp>
        <p:nvSpPr>
          <p:cNvPr id="8" name="TextBox 7"/>
          <p:cNvSpPr txBox="1"/>
          <p:nvPr/>
        </p:nvSpPr>
        <p:spPr>
          <a:xfrm>
            <a:off x="9829800" y="1207008"/>
            <a:ext cx="1691640" cy="365760"/>
          </a:xfrm>
          <a:prstGeom prst="rect">
            <a:avLst/>
          </a:prstGeom>
          <a:noFill/>
        </p:spPr>
        <p:txBody>
          <a:bodyPr wrap="square" anchor="t">
            <a:spAutoFit/>
          </a:bodyPr>
          <a:lstStyle/>
          <a:p>
            <a:pPr algn="ctr">
              <a:spcAft>
                <a:spcPts val="400"/>
              </a:spcAft>
            </a:pPr>
            <a:r>
              <a:rPr sz="1000" b="1">
                <a:solidFill>
                  <a:srgbClr val="FFFFFF"/>
                </a:solidFill>
                <a:latin typeface="Arial"/>
              </a:rPr>
              <a:t>KUBERNETES</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NON-WSQ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Kubernetes Fundamentals for Beginners</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C742</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 October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Cloud native architecture, Kubernetes, containers, DevOps and cloud solution architecture.</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CERTIFICATIONS</a:t>
            </a:r>
          </a:p>
          <a:p>
            <a:pPr algn="l">
              <a:spcAft>
                <a:spcPts val="300"/>
              </a:spcAft>
            </a:pPr>
            <a:r>
              <a:rPr sz="1400" b="0">
                <a:solidFill>
                  <a:srgbClr val="161B26"/>
                </a:solidFill>
                <a:latin typeface="Arial"/>
              </a:rPr>
              <a:t>AWS Certified Solutions Architect, SysOps Administrator, Cloud Practitioner; ACTA / DACE certified.</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400" b="0">
                <a:solidFill>
                  <a:srgbClr val="161B26"/>
                </a:solidFill>
                <a:latin typeface="Arial"/>
              </a:rPr>
              <a:t>Courses on Kubernetes, cloud architecture, DevOps, data science and applied AI.</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Who you are</a:t>
            </a:r>
          </a:p>
          <a:p>
            <a:pPr algn="l">
              <a:spcAft>
                <a:spcPts val="300"/>
              </a:spcAft>
            </a:pPr>
            <a:r>
              <a:rPr sz="1300" b="0">
                <a:solidFill>
                  <a:srgbClr val="5B6372"/>
                </a:solidFill>
                <a:latin typeface="Arial"/>
              </a:rPr>
              <a:t>Your name, your organisation and your role.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Your background</a:t>
            </a:r>
          </a:p>
          <a:p>
            <a:pPr algn="l">
              <a:spcAft>
                <a:spcPts val="300"/>
              </a:spcAft>
            </a:pPr>
            <a:r>
              <a:rPr sz="1300" b="0">
                <a:solidFill>
                  <a:srgbClr val="5B6372"/>
                </a:solidFill>
                <a:latin typeface="Arial"/>
              </a:rPr>
              <a:t>Your experience with Linux, containers or Docker, if any.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Kubernetes at work</a:t>
            </a:r>
          </a:p>
          <a:p>
            <a:pPr algn="l">
              <a:spcAft>
                <a:spcPts val="300"/>
              </a:spcAft>
            </a:pPr>
            <a:r>
              <a:rPr sz="1300" b="0">
                <a:solidFill>
                  <a:srgbClr val="5B6372"/>
                </a:solidFill>
                <a:latin typeface="Arial"/>
              </a:rPr>
              <a:t>Whether your organisation already runs Kubernetes — and who operates 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Your goal</a:t>
            </a:r>
          </a:p>
          <a:p>
            <a:pPr algn="l">
              <a:spcAft>
                <a:spcPts val="300"/>
              </a:spcAft>
            </a:pPr>
            <a:r>
              <a:rPr sz="1300" b="0">
                <a:solidFill>
                  <a:srgbClr val="5B6372"/>
                </a:solidFill>
                <a:latin typeface="Arial"/>
              </a:rPr>
              <a:t>What you would like to deploy or operate on Kubernetes after this course.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Attend both days in full.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Go to the LMS portal</a:t>
            </a:r>
          </a:p>
          <a:p>
            <a:pPr algn="l">
              <a:spcAft>
                <a:spcPts val="300"/>
              </a:spcAft>
            </a:pPr>
            <a:r>
              <a:rPr sz="1200" b="0">
                <a:solidFill>
                  <a:srgbClr val="5B6372"/>
                </a:solidFill>
                <a:latin typeface="Arial"/>
              </a:rPr>
              <a:t>Open https://lms-tms.tertiaryinfotech.com in your browser.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Log in</a:t>
            </a:r>
          </a:p>
          <a:p>
            <a:pPr algn="l">
              <a:spcAft>
                <a:spcPts val="300"/>
              </a:spcAft>
            </a:pPr>
            <a:r>
              <a:rPr sz="1200" b="0">
                <a:solidFill>
                  <a:srgbClr val="5B6372"/>
                </a:solidFill>
                <a:latin typeface="Arial"/>
              </a:rPr>
              <a:t>Sign in with the account e-mail you used to register for this course.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Open this course</a:t>
            </a:r>
          </a:p>
          <a:p>
            <a:pPr algn="l">
              <a:spcAft>
                <a:spcPts val="300"/>
              </a:spcAft>
            </a:pPr>
            <a:r>
              <a:rPr sz="1200" b="0">
                <a:solidFill>
                  <a:srgbClr val="5B6372"/>
                </a:solidFill>
                <a:latin typeface="Arial"/>
              </a:rPr>
              <a:t>Select 'Kubernetes Fundamentals for Beginners' (C742).</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Download</a:t>
            </a:r>
          </a:p>
          <a:p>
            <a:pPr algn="l">
              <a:spcAft>
                <a:spcPts val="300"/>
              </a:spcAft>
            </a:pPr>
            <a:r>
              <a:rPr sz="1200" b="0">
                <a:solidFill>
                  <a:srgbClr val="5B6372"/>
                </a:solidFill>
                <a:latin typeface="Arial"/>
              </a:rPr>
              <a:t>Download the Trainer Slides, Learner Guide and Lesson Plan (PDF).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 Get the labs</a:t>
            </a:r>
          </a:p>
          <a:p>
            <a:pPr algn="l">
              <a:spcAft>
                <a:spcPts val="300"/>
              </a:spcAft>
            </a:pPr>
            <a:r>
              <a:rPr sz="1200" b="0">
                <a:solidFill>
                  <a:srgbClr val="5B6372"/>
                </a:solidFill>
                <a:latin typeface="Arial"/>
              </a:rPr>
              <a:t>Clone the lab repository from GitHub — the link is on the course page.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 Keep them open</a:t>
            </a:r>
          </a:p>
          <a:p>
            <a:pPr algn="l">
              <a:spcAft>
                <a:spcPts val="300"/>
              </a:spcAft>
            </a:pPr>
            <a:r>
              <a:rPr sz="1200" b="0">
                <a:solidFill>
                  <a:srgbClr val="5B6372"/>
                </a:solidFill>
                <a:latin typeface="Arial"/>
              </a:rPr>
              <a:t>Refer to these materials during the labs and after the course.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7.5 Hours per 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Day 1 — Fundamentals &amp; Containers</a:t>
            </a:r>
          </a:p>
        </p:txBody>
      </p:sp>
      <p:sp>
        <p:nvSpPr>
          <p:cNvPr id="10" name="TextBox 9"/>
          <p:cNvSpPr txBox="1"/>
          <p:nvPr/>
        </p:nvSpPr>
        <p:spPr>
          <a:xfrm>
            <a:off x="100584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Introductions · course overview · ground rules</a:t>
            </a:r>
          </a:p>
          <a:p>
            <a:pPr>
              <a:spcAft>
                <a:spcPts val="900"/>
              </a:spcAft>
            </a:pPr>
            <a:r>
              <a:rPr sz="1400" b="0">
                <a:solidFill>
                  <a:srgbClr val="161B26"/>
                </a:solidFill>
                <a:latin typeface="Arial"/>
              </a:rPr>
              <a:t>•  Topic 1: Kubernetes Fundamentals and Architecture</a:t>
            </a:r>
          </a:p>
          <a:p>
            <a:pPr>
              <a:spcAft>
                <a:spcPts val="900"/>
              </a:spcAft>
            </a:pPr>
            <a:r>
              <a:rPr sz="1400" b="0">
                <a:solidFill>
                  <a:srgbClr val="161B26"/>
                </a:solidFill>
                <a:latin typeface="Arial"/>
              </a:rPr>
              <a:t>•  Labs 1–4 · cluster, the API, workloads and scheduling</a:t>
            </a:r>
          </a:p>
          <a:p>
            <a:pPr>
              <a:spcAft>
                <a:spcPts val="900"/>
              </a:spcAft>
            </a:pPr>
            <a:r>
              <a:rPr sz="1400" b="0">
                <a:solidFill>
                  <a:srgbClr val="161B26"/>
                </a:solidFill>
                <a:latin typeface="Arial"/>
              </a:rPr>
              <a:t>•  Topic 2 begins · Labs 5–6 · images, Services and Ingress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Day 2 AM — Security &amp; Scale</a:t>
            </a:r>
          </a:p>
        </p:txBody>
      </p:sp>
      <p:sp>
        <p:nvSpPr>
          <p:cNvPr id="14" name="TextBox 13"/>
          <p:cNvSpPr txBox="1"/>
          <p:nvPr/>
        </p:nvSpPr>
        <p:spPr>
          <a:xfrm>
            <a:off x="480060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Topic 2 continued: security, storage and service mesh</a:t>
            </a:r>
          </a:p>
          <a:p>
            <a:pPr>
              <a:spcAft>
                <a:spcPts val="900"/>
              </a:spcAft>
            </a:pPr>
            <a:r>
              <a:rPr sz="1400" b="0">
                <a:solidFill>
                  <a:srgbClr val="161B26"/>
                </a:solidFill>
                <a:latin typeface="Arial"/>
              </a:rPr>
              <a:t>•  Labs 7–8 · RBAC, Secrets, NetworkPolicy and storage</a:t>
            </a:r>
          </a:p>
          <a:p>
            <a:pPr>
              <a:spcAft>
                <a:spcPts val="900"/>
              </a:spcAft>
            </a:pPr>
            <a:r>
              <a:rPr sz="1400" b="0">
                <a:solidFill>
                  <a:srgbClr val="161B26"/>
                </a:solidFill>
                <a:latin typeface="Arial"/>
              </a:rPr>
              <a:t>•  Topic 3: Cloud Native Architecture and Scalability</a:t>
            </a:r>
          </a:p>
          <a:p>
            <a:pPr>
              <a:spcAft>
                <a:spcPts val="900"/>
              </a:spcAft>
            </a:pPr>
            <a:r>
              <a:rPr sz="1400" b="0">
                <a:solidFill>
                  <a:srgbClr val="161B26"/>
                </a:solidFill>
                <a:latin typeface="Arial"/>
              </a:rPr>
              <a:t>•  Lab 9 autoscaling · Lab 10 resilience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841248"/>
          </a:xfrm>
          <a:prstGeom prst="rect">
            <a:avLst/>
          </a:prstGeom>
          <a:noFill/>
        </p:spPr>
        <p:txBody>
          <a:bodyPr wrap="square" anchor="t">
            <a:spAutoFit/>
          </a:bodyPr>
          <a:lstStyle/>
          <a:p>
            <a:pPr algn="l">
              <a:spcAft>
                <a:spcPts val="400"/>
              </a:spcAft>
            </a:pPr>
            <a:r>
              <a:rPr sz="1600" b="1">
                <a:solidFill>
                  <a:srgbClr val="7C3AED"/>
                </a:solidFill>
                <a:latin typeface="Arial"/>
              </a:rPr>
              <a:t>Day 2 PM — Observe &amp; Deliver</a:t>
            </a:r>
          </a:p>
        </p:txBody>
      </p:sp>
      <p:sp>
        <p:nvSpPr>
          <p:cNvPr id="18" name="TextBox 17"/>
          <p:cNvSpPr txBox="1"/>
          <p:nvPr/>
        </p:nvSpPr>
        <p:spPr>
          <a:xfrm>
            <a:off x="8595360" y="2944368"/>
            <a:ext cx="2926080" cy="3044952"/>
          </a:xfrm>
          <a:prstGeom prst="rect">
            <a:avLst/>
          </a:prstGeom>
          <a:noFill/>
        </p:spPr>
        <p:txBody>
          <a:bodyPr wrap="square">
            <a:spAutoFit/>
          </a:bodyPr>
          <a:lstStyle/>
          <a:p>
            <a:pPr>
              <a:spcAft>
                <a:spcPts val="900"/>
              </a:spcAft>
            </a:pPr>
            <a:r>
              <a:rPr sz="1400" b="0">
                <a:solidFill>
                  <a:srgbClr val="161B26"/>
                </a:solidFill>
                <a:latin typeface="Arial"/>
              </a:rPr>
              <a:t>•  Lab 11 · serverless and open standards</a:t>
            </a:r>
          </a:p>
          <a:p>
            <a:pPr>
              <a:spcAft>
                <a:spcPts val="900"/>
              </a:spcAft>
            </a:pPr>
            <a:r>
              <a:rPr sz="1400" b="0">
                <a:solidFill>
                  <a:srgbClr val="161B26"/>
                </a:solidFill>
                <a:latin typeface="Arial"/>
              </a:rPr>
              <a:t>•  Topic 4: Labs 12–13 · Prometheus and golden signals</a:t>
            </a:r>
          </a:p>
          <a:p>
            <a:pPr>
              <a:spcAft>
                <a:spcPts val="900"/>
              </a:spcAft>
            </a:pPr>
            <a:r>
              <a:rPr sz="1400" b="0">
                <a:solidFill>
                  <a:srgbClr val="161B26"/>
                </a:solidFill>
                <a:latin typeface="Arial"/>
              </a:rPr>
              <a:t>•  Topic 5: Labs 14–16 · delivery and GitOps</a:t>
            </a:r>
          </a:p>
          <a:p>
            <a:pPr>
              <a:spcAft>
                <a:spcPts val="900"/>
              </a:spcAft>
            </a:pPr>
            <a:r>
              <a:rPr sz="1400" b="0">
                <a:solidFill>
                  <a:srgbClr val="161B26"/>
                </a:solidFill>
                <a:latin typeface="Arial"/>
              </a:rPr>
              <a:t>•  Course recap · Q&amp;A · course feedback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FIVE TOPICS  ·  16 HANDS-ON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Topic 1 — Kubernetes Fundamentals and Architecture</a:t>
            </a:r>
          </a:p>
          <a:p>
            <a:pPr algn="l">
              <a:spcAft>
                <a:spcPts val="300"/>
              </a:spcAft>
            </a:pPr>
            <a:r>
              <a:rPr sz="1200" b="0">
                <a:solidFill>
                  <a:srgbClr val="5B6372"/>
                </a:solidFill>
                <a:latin typeface="Arial"/>
              </a:rPr>
              <a:t>Resources · architecture · the API · containers · scheduling. (46% of the KCNA exam)</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Topic 2 — Container Orchestration and Kubernetes Operations</a:t>
            </a:r>
          </a:p>
          <a:p>
            <a:pPr algn="l">
              <a:spcAft>
                <a:spcPts val="300"/>
              </a:spcAft>
            </a:pPr>
            <a:r>
              <a:rPr sz="1200" b="0">
                <a:solidFill>
                  <a:srgbClr val="5B6372"/>
                </a:solidFill>
                <a:latin typeface="Arial"/>
              </a:rPr>
              <a:t>Orchestration · runtime · security · networking · service mesh · storage. (22%)</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Topic 3 — Cloud Native Architecture and Scalability</a:t>
            </a:r>
          </a:p>
          <a:p>
            <a:pPr algn="l">
              <a:spcAft>
                <a:spcPts val="300"/>
              </a:spcAft>
            </a:pPr>
            <a:r>
              <a:rPr sz="1200" b="0">
                <a:solidFill>
                  <a:srgbClr val="5B6372"/>
                </a:solidFill>
                <a:latin typeface="Arial"/>
              </a:rPr>
              <a:t>Autoscaling · serverless · community &amp; governance · roles · open standards. (16%)</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Topic 4 — Kubernetes Monitoring and Observability</a:t>
            </a:r>
          </a:p>
          <a:p>
            <a:pPr algn="l">
              <a:spcAft>
                <a:spcPts val="300"/>
              </a:spcAft>
            </a:pPr>
            <a:r>
              <a:rPr sz="1200" b="0">
                <a:solidFill>
                  <a:srgbClr val="5B6372"/>
                </a:solidFill>
                <a:latin typeface="Arial"/>
              </a:rPr>
              <a:t>Telemetry &amp; observability · Prometheus · cost management. (8%)</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Topic 5 — Kubernetes Application Deployment and Management</a:t>
            </a:r>
          </a:p>
          <a:p>
            <a:pPr algn="l">
              <a:spcAft>
                <a:spcPts val="300"/>
              </a:spcAft>
            </a:pPr>
            <a:r>
              <a:rPr sz="1200" b="0">
                <a:solidFill>
                  <a:srgbClr val="5B6372"/>
                </a:solidFill>
                <a:latin typeface="Arial"/>
              </a:rPr>
              <a:t>Application delivery · GitOps · CI/CD. (8%)</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ENVIRONMENT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Set Up Before We Start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Docker Desktop</a:t>
            </a:r>
          </a:p>
          <a:p>
            <a:pPr algn="l">
              <a:spcAft>
                <a:spcPts val="300"/>
              </a:spcAft>
            </a:pPr>
            <a:r>
              <a:rPr sz="1200" b="0">
                <a:solidFill>
                  <a:srgbClr val="5B6372"/>
                </a:solidFill>
                <a:latin typeface="Arial"/>
              </a:rPr>
              <a:t>Install Docker Desktop (or Docker Engine on Linux) — it builds the images in Topic 2.</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minikube</a:t>
            </a:r>
          </a:p>
          <a:p>
            <a:pPr algn="l">
              <a:spcAft>
                <a:spcPts val="300"/>
              </a:spcAft>
            </a:pPr>
            <a:r>
              <a:rPr sz="1200" b="0">
                <a:solidFill>
                  <a:srgbClr val="5B6372"/>
                </a:solidFill>
                <a:latin typeface="Arial"/>
              </a:rPr>
              <a:t>Install minikube to run the local single-node Kubernetes cluster used by every lab.</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kubectl</a:t>
            </a:r>
          </a:p>
          <a:p>
            <a:pPr algn="l">
              <a:spcAft>
                <a:spcPts val="300"/>
              </a:spcAft>
            </a:pPr>
            <a:r>
              <a:rPr sz="1200" b="0">
                <a:solidFill>
                  <a:srgbClr val="5B6372"/>
                </a:solidFill>
                <a:latin typeface="Arial"/>
              </a:rPr>
              <a:t>Install the kubectl CLI — this is how you talk to the Kubernetes API all course.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Helm</a:t>
            </a:r>
          </a:p>
          <a:p>
            <a:pPr algn="l">
              <a:spcAft>
                <a:spcPts val="300"/>
              </a:spcAft>
            </a:pPr>
            <a:r>
              <a:rPr sz="1200" b="0">
                <a:solidFill>
                  <a:srgbClr val="5B6372"/>
                </a:solidFill>
                <a:latin typeface="Arial"/>
              </a:rPr>
              <a:t>Install Helm 3 for the packaging lab in Topic 5.</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Lab repository</a:t>
            </a:r>
          </a:p>
          <a:p>
            <a:pPr algn="l">
              <a:spcAft>
                <a:spcPts val="300"/>
              </a:spcAft>
            </a:pPr>
            <a:r>
              <a:rPr sz="1200" b="0">
                <a:solidFill>
                  <a:srgbClr val="5B6372"/>
                </a:solidFill>
                <a:latin typeface="Arial"/>
              </a:rPr>
              <a:t>Clone the course labs from GitHub — the link is on your LMS course page.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Editor</a:t>
            </a:r>
          </a:p>
          <a:p>
            <a:pPr algn="l">
              <a:spcAft>
                <a:spcPts val="300"/>
              </a:spcAft>
            </a:pPr>
            <a:r>
              <a:rPr sz="1200" b="0">
                <a:solidFill>
                  <a:srgbClr val="5B6372"/>
                </a:solidFill>
                <a:latin typeface="Arial"/>
              </a:rPr>
              <a:t>Use VS Code with the YAML and Kubernetes extensions for editing manifests.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From Containers to Kubernetes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advClick="1">
    <p:push dir="l"/>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PROGRESSION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Why Did Kubernetes Happen?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Physical servers</a:t>
            </a:r>
          </a:p>
          <a:p>
            <a:pPr algn="l">
              <a:spcAft>
                <a:spcPts val="300"/>
              </a:spcAft>
            </a:pPr>
            <a:r>
              <a:rPr sz="1300" b="0">
                <a:solidFill>
                  <a:srgbClr val="5B6372"/>
                </a:solidFill>
                <a:latin typeface="Arial"/>
              </a:rPr>
              <a:t>One application per box. Slow to provision, expensive, and mostly idle — utilisation often under 15%.</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Virtual machines</a:t>
            </a:r>
          </a:p>
          <a:p>
            <a:pPr algn="l">
              <a:spcAft>
                <a:spcPts val="300"/>
              </a:spcAft>
            </a:pPr>
            <a:r>
              <a:rPr sz="1300" b="0">
                <a:solidFill>
                  <a:srgbClr val="5B6372"/>
                </a:solidFill>
                <a:latin typeface="Arial"/>
              </a:rPr>
              <a:t>Many VMs per host improved utilisation, but each carries a full guest operating system and boots in minutes.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Containers</a:t>
            </a:r>
          </a:p>
          <a:p>
            <a:pPr algn="l">
              <a:spcAft>
                <a:spcPts val="300"/>
              </a:spcAft>
            </a:pPr>
            <a:r>
              <a:rPr sz="1300" b="0">
                <a:solidFill>
                  <a:srgbClr val="5B6372"/>
                </a:solidFill>
                <a:latin typeface="Arial"/>
              </a:rPr>
              <a:t>Share the host kernel, start in milliseconds, and package the application with its dependencies.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Orchestration</a:t>
            </a:r>
          </a:p>
          <a:p>
            <a:pPr algn="l">
              <a:spcAft>
                <a:spcPts val="300"/>
              </a:spcAft>
            </a:pPr>
            <a:r>
              <a:rPr sz="1300" b="0">
                <a:solidFill>
                  <a:srgbClr val="5B6372"/>
                </a:solidFill>
                <a:latin typeface="Arial"/>
              </a:rPr>
              <a:t>Once you run hundreds of containers across many hosts, you need something to schedule and heal them — that is Kubernetes.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THE RUNTIME LAYER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Virtual Machines vs Containers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Dimension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Virtual Machine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Container</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Isolation boundary</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Hardware virtualisation (hypervisor)</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Linux namespaces and cgroups</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Operating system</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full guest OS per VM</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Shares the host kernel</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Typical size</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Gigabytes</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Tens to hundreds of megabytes</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Start-up time</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Tens of seconds to minutes</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Milliseconds to seconds</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Density per host</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Tens</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Hundreds</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Best for</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Strong isolation, mixed OS kernels</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Elastic, fast-moving microservices</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Containers are lighter because they do not virtualise hardware — but they share the host kernel, so kernel-level isolation is weaker than a VM's.</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CENTRAL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Kubernetes is a control loop, not a deployment script.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declare the state you want. Controllers watch the actual state and work continuously to close the gap — forever, not once.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EVERY CONTROLLER WORKS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Reconciliation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Declare</a:t>
            </a:r>
          </a:p>
        </p:txBody>
      </p:sp>
      <p:sp>
        <p:nvSpPr>
          <p:cNvPr id="12" name="TextBox 11"/>
          <p:cNvSpPr txBox="1"/>
          <p:nvPr/>
        </p:nvSpPr>
        <p:spPr>
          <a:xfrm>
            <a:off x="850392" y="3511296"/>
            <a:ext cx="1673352" cy="676656"/>
          </a:xfrm>
          <a:prstGeom prst="rect">
            <a:avLst/>
          </a:prstGeom>
          <a:noFill/>
        </p:spPr>
        <p:txBody>
          <a:bodyPr wrap="square" anchor="ctr">
            <a:spAutoFit/>
          </a:bodyPr>
          <a:lstStyle/>
          <a:p>
            <a:pPr algn="ctr">
              <a:spcAft>
                <a:spcPts val="0"/>
              </a:spcAft>
            </a:pPr>
            <a:r>
              <a:rPr sz="800" b="0">
                <a:solidFill>
                  <a:srgbClr val="5B6372"/>
                </a:solidFill>
                <a:latin typeface="Arial"/>
              </a:rPr>
              <a:t>You submit the desired state as an object</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Store</a:t>
            </a:r>
          </a:p>
        </p:txBody>
      </p:sp>
      <p:sp>
        <p:nvSpPr>
          <p:cNvPr id="19" name="TextBox 18"/>
          <p:cNvSpPr txBox="1"/>
          <p:nvPr/>
        </p:nvSpPr>
        <p:spPr>
          <a:xfrm>
            <a:off x="3054096"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The API server persists it in etcd</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Observe</a:t>
            </a:r>
          </a:p>
        </p:txBody>
      </p:sp>
      <p:sp>
        <p:nvSpPr>
          <p:cNvPr id="26" name="TextBox 25"/>
          <p:cNvSpPr txBox="1"/>
          <p:nvPr/>
        </p:nvSpPr>
        <p:spPr>
          <a:xfrm>
            <a:off x="5257800" y="3511296"/>
            <a:ext cx="1673352" cy="676656"/>
          </a:xfrm>
          <a:prstGeom prst="rect">
            <a:avLst/>
          </a:prstGeom>
          <a:noFill/>
        </p:spPr>
        <p:txBody>
          <a:bodyPr wrap="square" anchor="ctr">
            <a:spAutoFit/>
          </a:bodyPr>
          <a:lstStyle/>
          <a:p>
            <a:pPr algn="ctr">
              <a:spcAft>
                <a:spcPts val="0"/>
              </a:spcAft>
            </a:pPr>
            <a:r>
              <a:rPr sz="800" b="0">
                <a:solidFill>
                  <a:srgbClr val="5B6372"/>
                </a:solidFill>
                <a:latin typeface="Arial"/>
              </a:rPr>
              <a:t>A controller watches the actual state</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Diff</a:t>
            </a:r>
          </a:p>
        </p:txBody>
      </p:sp>
      <p:sp>
        <p:nvSpPr>
          <p:cNvPr id="33" name="TextBox 32"/>
          <p:cNvSpPr txBox="1"/>
          <p:nvPr/>
        </p:nvSpPr>
        <p:spPr>
          <a:xfrm>
            <a:off x="7461504"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It compares actual against desired</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Act</a:t>
            </a:r>
          </a:p>
        </p:txBody>
      </p:sp>
      <p:sp>
        <p:nvSpPr>
          <p:cNvPr id="40" name="TextBox 39"/>
          <p:cNvSpPr txBox="1"/>
          <p:nvPr/>
        </p:nvSpPr>
        <p:spPr>
          <a:xfrm>
            <a:off x="9665208" y="3511296"/>
            <a:ext cx="1673352" cy="676656"/>
          </a:xfrm>
          <a:prstGeom prst="rect">
            <a:avLst/>
          </a:prstGeom>
          <a:noFill/>
        </p:spPr>
        <p:txBody>
          <a:bodyPr wrap="square" anchor="ctr">
            <a:spAutoFit/>
          </a:bodyPr>
          <a:lstStyle/>
          <a:p>
            <a:pPr algn="ctr">
              <a:spcAft>
                <a:spcPts val="0"/>
              </a:spcAft>
            </a:pPr>
            <a:r>
              <a:rPr sz="800" b="0">
                <a:solidFill>
                  <a:srgbClr val="5B6372"/>
                </a:solidFill>
                <a:latin typeface="Arial"/>
              </a:rPr>
              <a:t>It takes action to close the gap, then loops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Self-healing is not a feature bolted on — it is what falls out of running this loop forever. Delete a Pod and the loop simply notices the gap and refills it.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TWO WAYS TO WORK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Declarative vs Imperative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Imperative</a:t>
            </a:r>
          </a:p>
          <a:p>
            <a:pPr algn="l">
              <a:spcAft>
                <a:spcPts val="300"/>
              </a:spcAft>
            </a:pPr>
            <a:r>
              <a:rPr sz="1300" b="0">
                <a:solidFill>
                  <a:srgbClr val="5B6372"/>
                </a:solidFill>
                <a:latin typeface="Arial"/>
              </a:rPr>
              <a:t>You issue commands describing HOW: kubectl run, kubectl scale. Fast for experiments, hard to review or repeat.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Declarative</a:t>
            </a:r>
          </a:p>
          <a:p>
            <a:pPr algn="l">
              <a:spcAft>
                <a:spcPts val="300"/>
              </a:spcAft>
            </a:pPr>
            <a:r>
              <a:rPr sz="1300" b="0">
                <a:solidFill>
                  <a:srgbClr val="5B6372"/>
                </a:solidFill>
                <a:latin typeface="Arial"/>
              </a:rPr>
              <a:t>You submit a manifest describing WHAT the end state should be: kubectl apply -f. Reviewable, version-controllable, repeatable.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Why declarative wins</a:t>
            </a:r>
          </a:p>
          <a:p>
            <a:pPr algn="l">
              <a:spcAft>
                <a:spcPts val="300"/>
              </a:spcAft>
            </a:pPr>
            <a:r>
              <a:rPr sz="1300" b="0">
                <a:solidFill>
                  <a:srgbClr val="5B6372"/>
                </a:solidFill>
                <a:latin typeface="Arial"/>
              </a:rPr>
              <a:t>The manifest in Git is the record of intent — anyone can read it, review it, and reproduce the whole environment from 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The rule for this course</a:t>
            </a:r>
          </a:p>
          <a:p>
            <a:pPr algn="l">
              <a:spcAft>
                <a:spcPts val="300"/>
              </a:spcAft>
            </a:pPr>
            <a:r>
              <a:rPr sz="1300" b="0">
                <a:solidFill>
                  <a:srgbClr val="5B6372"/>
                </a:solidFill>
                <a:latin typeface="Arial"/>
              </a:rPr>
              <a:t>Experiment imperatively if it helps you learn; deliver declaratively. Every lab manifest is a YAML file you keep.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THE REQUEST PATH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Kubernetes Architecture — Control Plane and Nodes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kubectl</a:t>
            </a:r>
          </a:p>
        </p:txBody>
      </p:sp>
      <p:sp>
        <p:nvSpPr>
          <p:cNvPr id="12" name="TextBox 11"/>
          <p:cNvSpPr txBox="1"/>
          <p:nvPr/>
        </p:nvSpPr>
        <p:spPr>
          <a:xfrm>
            <a:off x="850392" y="3511296"/>
            <a:ext cx="1673352" cy="676656"/>
          </a:xfrm>
          <a:prstGeom prst="rect">
            <a:avLst/>
          </a:prstGeom>
          <a:noFill/>
        </p:spPr>
        <p:txBody>
          <a:bodyPr wrap="square" anchor="ctr">
            <a:spAutoFit/>
          </a:bodyPr>
          <a:lstStyle/>
          <a:p>
            <a:pPr algn="ctr">
              <a:spcAft>
                <a:spcPts val="0"/>
              </a:spcAft>
            </a:pPr>
            <a:r>
              <a:rPr sz="800" b="0">
                <a:solidFill>
                  <a:srgbClr val="5B6372"/>
                </a:solidFill>
                <a:latin typeface="Arial"/>
              </a:rPr>
              <a:t>Sends your request to the API server</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kube-apiserver</a:t>
            </a:r>
          </a:p>
        </p:txBody>
      </p:sp>
      <p:sp>
        <p:nvSpPr>
          <p:cNvPr id="19" name="TextBox 18"/>
          <p:cNvSpPr txBox="1"/>
          <p:nvPr/>
        </p:nvSpPr>
        <p:spPr>
          <a:xfrm>
            <a:off x="3054096" y="3511296"/>
            <a:ext cx="1673352" cy="676656"/>
          </a:xfrm>
          <a:prstGeom prst="rect">
            <a:avLst/>
          </a:prstGeom>
          <a:noFill/>
        </p:spPr>
        <p:txBody>
          <a:bodyPr wrap="square" anchor="ctr">
            <a:spAutoFit/>
          </a:bodyPr>
          <a:lstStyle/>
          <a:p>
            <a:pPr algn="ctr">
              <a:spcAft>
                <a:spcPts val="0"/>
              </a:spcAft>
            </a:pPr>
            <a:r>
              <a:rPr sz="800" b="0">
                <a:solidFill>
                  <a:srgbClr val="5B6372"/>
                </a:solidFill>
                <a:latin typeface="Arial"/>
              </a:rPr>
              <a:t>Validates, authenticates and persists it</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etcd</a:t>
            </a:r>
          </a:p>
        </p:txBody>
      </p:sp>
      <p:sp>
        <p:nvSpPr>
          <p:cNvPr id="26" name="TextBox 25"/>
          <p:cNvSpPr txBox="1"/>
          <p:nvPr/>
        </p:nvSpPr>
        <p:spPr>
          <a:xfrm>
            <a:off x="5257800"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Stores the entire cluster state</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kube-scheduler</a:t>
            </a:r>
          </a:p>
        </p:txBody>
      </p:sp>
      <p:sp>
        <p:nvSpPr>
          <p:cNvPr id="33" name="TextBox 32"/>
          <p:cNvSpPr txBox="1"/>
          <p:nvPr/>
        </p:nvSpPr>
        <p:spPr>
          <a:xfrm>
            <a:off x="7461504"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Chooses a node for each new Pod</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kubelet</a:t>
            </a:r>
          </a:p>
        </p:txBody>
      </p:sp>
      <p:sp>
        <p:nvSpPr>
          <p:cNvPr id="40" name="TextBox 39"/>
          <p:cNvSpPr txBox="1"/>
          <p:nvPr/>
        </p:nvSpPr>
        <p:spPr>
          <a:xfrm>
            <a:off x="9665208"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Starts the containers on that node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THE KEY INSIGHT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Every component talks only to the API server — never to each other and never directly to etcd. That single front door is what makes the architecture extensible.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WHAT DECIDES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Control-Plane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kube-apiserver</a:t>
            </a:r>
          </a:p>
          <a:p>
            <a:pPr algn="l">
              <a:spcAft>
                <a:spcPts val="300"/>
              </a:spcAft>
            </a:pPr>
            <a:r>
              <a:rPr sz="1200" b="0">
                <a:solidFill>
                  <a:srgbClr val="5B6372"/>
                </a:solidFill>
                <a:latin typeface="Arial"/>
              </a:rPr>
              <a:t>The front door. Every request — from kubectl, from controllers, from the kubelet — is authenticated, authorised, validated and served here.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etcd</a:t>
            </a:r>
          </a:p>
          <a:p>
            <a:pPr algn="l">
              <a:spcAft>
                <a:spcPts val="300"/>
              </a:spcAft>
            </a:pPr>
            <a:r>
              <a:rPr sz="1200" b="0">
                <a:solidFill>
                  <a:srgbClr val="5B6372"/>
                </a:solidFill>
                <a:latin typeface="Arial"/>
              </a:rPr>
              <a:t>A consistent, highly available key-value store holding all cluster state. The only stateful component; back it up or lose the cluster.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kube-scheduler</a:t>
            </a:r>
          </a:p>
          <a:p>
            <a:pPr algn="l">
              <a:spcAft>
                <a:spcPts val="300"/>
              </a:spcAft>
            </a:pPr>
            <a:r>
              <a:rPr sz="1200" b="0">
                <a:solidFill>
                  <a:srgbClr val="5B6372"/>
                </a:solidFill>
                <a:latin typeface="Arial"/>
              </a:rPr>
              <a:t>Watches for Pods with no node assigned, filters the nodes that could run them, scores the survivors, and binds the best one.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kube-controller-manager</a:t>
            </a:r>
          </a:p>
          <a:p>
            <a:pPr algn="l">
              <a:spcAft>
                <a:spcPts val="300"/>
              </a:spcAft>
            </a:pPr>
            <a:r>
              <a:rPr sz="1200" b="0">
                <a:solidFill>
                  <a:srgbClr val="5B6372"/>
                </a:solidFill>
                <a:latin typeface="Arial"/>
              </a:rPr>
              <a:t>Runs the built-in controllers — Deployment, ReplicaSet, Node, Job, endpoints — each running its own reconciliation loop.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cloud-controller-manager</a:t>
            </a:r>
          </a:p>
          <a:p>
            <a:pPr algn="l">
              <a:spcAft>
                <a:spcPts val="300"/>
              </a:spcAft>
            </a:pPr>
            <a:r>
              <a:rPr sz="1200" b="0">
                <a:solidFill>
                  <a:srgbClr val="5B6372"/>
                </a:solidFill>
                <a:latin typeface="Arial"/>
              </a:rPr>
              <a:t>Bridges to the cloud provider for load balancers, routes and node lifecycle when running on a managed platform.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Highly available in production</a:t>
            </a:r>
          </a:p>
          <a:p>
            <a:pPr algn="l">
              <a:spcAft>
                <a:spcPts val="300"/>
              </a:spcAft>
            </a:pPr>
            <a:r>
              <a:rPr sz="1200" b="0">
                <a:solidFill>
                  <a:srgbClr val="5B6372"/>
                </a:solidFill>
                <a:latin typeface="Arial"/>
              </a:rPr>
              <a:t>Three or five control-plane nodes with a quorum of etcd members — an even number gains you nothing.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WHAT RUNS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Worker Node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kubelet</a:t>
            </a:r>
          </a:p>
          <a:p>
            <a:pPr algn="l">
              <a:spcAft>
                <a:spcPts val="300"/>
              </a:spcAft>
            </a:pPr>
            <a:r>
              <a:rPr sz="1300" b="0">
                <a:solidFill>
                  <a:srgbClr val="5B6372"/>
                </a:solidFill>
                <a:latin typeface="Arial"/>
              </a:rPr>
              <a:t>The node agent. It registers the node, watches the API server for Pods bound to it, and drives the runtime to start containers.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Container runtime</a:t>
            </a:r>
          </a:p>
          <a:p>
            <a:pPr algn="l">
              <a:spcAft>
                <a:spcPts val="300"/>
              </a:spcAft>
            </a:pPr>
            <a:r>
              <a:rPr sz="1300" b="0">
                <a:solidFill>
                  <a:srgbClr val="5B6372"/>
                </a:solidFill>
                <a:latin typeface="Arial"/>
              </a:rPr>
              <a:t>containerd or CRI-O, reached through the Container Runtime Interface — it pulls images and runs the containers.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kube-proxy</a:t>
            </a:r>
          </a:p>
          <a:p>
            <a:pPr algn="l">
              <a:spcAft>
                <a:spcPts val="300"/>
              </a:spcAft>
            </a:pPr>
            <a:r>
              <a:rPr sz="1300" b="0">
                <a:solidFill>
                  <a:srgbClr val="5B6372"/>
                </a:solidFill>
                <a:latin typeface="Arial"/>
              </a:rPr>
              <a:t>Programmes iptables or IPVS rules so that the virtual IP of a Service reaches a healthy backing Pod.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Pods</a:t>
            </a:r>
          </a:p>
          <a:p>
            <a:pPr algn="l">
              <a:spcAft>
                <a:spcPts val="300"/>
              </a:spcAft>
            </a:pPr>
            <a:r>
              <a:rPr sz="1300" b="0">
                <a:solidFill>
                  <a:srgbClr val="5B6372"/>
                </a:solidFill>
                <a:latin typeface="Arial"/>
              </a:rPr>
              <a:t>Your workloads. One or more containers that share a network namespace, an IP address and any mounted volumes.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WORKED EXAMPLE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 Kubernetes Manifest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Every object you write this course has these same four top-level fields — learn to read them once.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apiVersion: apps/v1</a:t>
            </a:r>
          </a:p>
          <a:p>
            <a:pPr>
              <a:spcAft>
                <a:spcPts val="200"/>
              </a:spcAft>
            </a:pPr>
            <a:r>
              <a:rPr sz="1100">
                <a:solidFill>
                  <a:srgbClr val="9CDCFE"/>
                </a:solidFill>
                <a:latin typeface="Consolas"/>
              </a:rPr>
              <a:t>kind: Deployment</a:t>
            </a:r>
          </a:p>
          <a:p>
            <a:pPr>
              <a:spcAft>
                <a:spcPts val="200"/>
              </a:spcAft>
            </a:pPr>
            <a:r>
              <a:rPr sz="1100">
                <a:solidFill>
                  <a:srgbClr val="9CDCFE"/>
                </a:solidFill>
                <a:latin typeface="Consolas"/>
              </a:rPr>
              <a:t>metadata:</a:t>
            </a:r>
          </a:p>
          <a:p>
            <a:pPr>
              <a:spcAft>
                <a:spcPts val="200"/>
              </a:spcAft>
            </a:pPr>
            <a:r>
              <a:rPr sz="1100">
                <a:solidFill>
                  <a:srgbClr val="9CDCFE"/>
                </a:solidFill>
                <a:latin typeface="Consolas"/>
              </a:rPr>
              <a:t>  name: storefront</a:t>
            </a:r>
          </a:p>
          <a:p>
            <a:pPr>
              <a:spcAft>
                <a:spcPts val="200"/>
              </a:spcAft>
            </a:pPr>
            <a:r>
              <a:rPr sz="1100">
                <a:solidFill>
                  <a:srgbClr val="9CDCFE"/>
                </a:solidFill>
                <a:latin typeface="Consolas"/>
              </a:rPr>
              <a:t>  namespace: kcna-lab</a:t>
            </a:r>
          </a:p>
          <a:p>
            <a:pPr>
              <a:spcAft>
                <a:spcPts val="200"/>
              </a:spcAft>
            </a:pPr>
            <a:r>
              <a:rPr sz="1100">
                <a:solidFill>
                  <a:srgbClr val="9CDCFE"/>
                </a:solidFill>
                <a:latin typeface="Consolas"/>
              </a:rPr>
              <a:t>spec:</a:t>
            </a:r>
          </a:p>
          <a:p>
            <a:pPr>
              <a:spcAft>
                <a:spcPts val="200"/>
              </a:spcAft>
            </a:pPr>
            <a:r>
              <a:rPr sz="1100">
                <a:solidFill>
                  <a:srgbClr val="9CDCFE"/>
                </a:solidFill>
                <a:latin typeface="Consolas"/>
              </a:rPr>
              <a:t>  replicas: 3</a:t>
            </a:r>
          </a:p>
          <a:p>
            <a:pPr>
              <a:spcAft>
                <a:spcPts val="200"/>
              </a:spcAft>
            </a:pPr>
            <a:r>
              <a:rPr sz="1100">
                <a:solidFill>
                  <a:srgbClr val="9CDCFE"/>
                </a:solidFill>
                <a:latin typeface="Consolas"/>
              </a:rPr>
              <a:t>  selector:</a:t>
            </a:r>
          </a:p>
          <a:p>
            <a:pPr>
              <a:spcAft>
                <a:spcPts val="200"/>
              </a:spcAft>
            </a:pPr>
            <a:r>
              <a:rPr sz="1100">
                <a:solidFill>
                  <a:srgbClr val="9CDCFE"/>
                </a:solidFill>
                <a:latin typeface="Consolas"/>
              </a:rPr>
              <a:t>    matchLabels:</a:t>
            </a:r>
          </a:p>
          <a:p>
            <a:pPr>
              <a:spcAft>
                <a:spcPts val="200"/>
              </a:spcAft>
            </a:pPr>
            <a:r>
              <a:rPr sz="1100">
                <a:solidFill>
                  <a:srgbClr val="9CDCFE"/>
                </a:solidFill>
                <a:latin typeface="Consolas"/>
              </a:rPr>
              <a:t>      app: storefront</a:t>
            </a:r>
          </a:p>
          <a:p>
            <a:pPr>
              <a:spcAft>
                <a:spcPts val="200"/>
              </a:spcAft>
            </a:pPr>
            <a:r>
              <a:rPr sz="1100">
                <a:solidFill>
                  <a:srgbClr val="9CDCFE"/>
                </a:solidFill>
                <a:latin typeface="Consolas"/>
              </a:rPr>
              <a:t>  template:</a:t>
            </a:r>
          </a:p>
          <a:p>
            <a:pPr>
              <a:spcAft>
                <a:spcPts val="200"/>
              </a:spcAft>
            </a:pPr>
            <a:r>
              <a:rPr sz="1100">
                <a:solidFill>
                  <a:srgbClr val="9CDCFE"/>
                </a:solidFill>
                <a:latin typeface="Consolas"/>
              </a:rPr>
              <a:t>    metadata:</a:t>
            </a:r>
          </a:p>
          <a:p>
            <a:pPr>
              <a:spcAft>
                <a:spcPts val="200"/>
              </a:spcAft>
            </a:pPr>
            <a:r>
              <a:rPr sz="1100">
                <a:solidFill>
                  <a:srgbClr val="9CDCFE"/>
                </a:solidFill>
                <a:latin typeface="Consolas"/>
              </a:rPr>
              <a:t>      labels:</a:t>
            </a:r>
          </a:p>
          <a:p>
            <a:pPr>
              <a:spcAft>
                <a:spcPts val="200"/>
              </a:spcAft>
            </a:pPr>
            <a:r>
              <a:rPr sz="1100">
                <a:solidFill>
                  <a:srgbClr val="9CDCFE"/>
                </a:solidFill>
                <a:latin typeface="Consolas"/>
              </a:rPr>
              <a:t>        app: storefront</a:t>
            </a:r>
          </a:p>
          <a:p>
            <a:pPr>
              <a:spcAft>
                <a:spcPts val="200"/>
              </a:spcAft>
            </a:pPr>
            <a:r>
              <a:rPr sz="1100">
                <a:solidFill>
                  <a:srgbClr val="9CDCFE"/>
                </a:solidFill>
                <a:latin typeface="Consolas"/>
              </a:rPr>
              <a:t>    spec:</a:t>
            </a:r>
          </a:p>
          <a:p>
            <a:pPr>
              <a:spcAft>
                <a:spcPts val="200"/>
              </a:spcAft>
            </a:pPr>
            <a:r>
              <a:rPr sz="1100">
                <a:solidFill>
                  <a:srgbClr val="9CDCFE"/>
                </a:solidFill>
                <a:latin typeface="Consolas"/>
              </a:rPr>
              <a:t>      containers:</a:t>
            </a:r>
          </a:p>
          <a:p>
            <a:pPr>
              <a:spcAft>
                <a:spcPts val="200"/>
              </a:spcAft>
            </a:pPr>
            <a:r>
              <a:rPr sz="1100">
                <a:solidFill>
                  <a:srgbClr val="9CDCFE"/>
                </a:solidFill>
                <a:latin typeface="Consolas"/>
              </a:rPr>
              <a:t>      - name: storefront</a:t>
            </a:r>
          </a:p>
          <a:p>
            <a:pPr>
              <a:spcAft>
                <a:spcPts val="200"/>
              </a:spcAft>
            </a:pPr>
            <a:r>
              <a:rPr sz="1100">
                <a:solidFill>
                  <a:srgbClr val="9CDCFE"/>
                </a:solidFill>
                <a:latin typeface="Consolas"/>
              </a:rPr>
              <a:t>        image: nginx:1.27</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apiVersion</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Which API group and version validates this object — apps/v1 for Deployments, v1 for core objects.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kind</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type of object. The kind plus apiVersion tells the API server which schema to apply.</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metadata</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Name, namespace and labels — the identity by which everything else finds this object.</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57800"/>
            <a:ext cx="4005072" cy="292608"/>
          </a:xfrm>
          <a:prstGeom prst="rect">
            <a:avLst/>
          </a:prstGeom>
          <a:noFill/>
        </p:spPr>
        <p:txBody>
          <a:bodyPr wrap="square" anchor="t">
            <a:spAutoFit/>
          </a:bodyPr>
          <a:lstStyle/>
          <a:p>
            <a:pPr algn="l">
              <a:spcAft>
                <a:spcPts val="400"/>
              </a:spcAft>
            </a:pPr>
            <a:r>
              <a:rPr sz="1200" b="1">
                <a:solidFill>
                  <a:srgbClr val="F59E0B"/>
                </a:solidFill>
                <a:latin typeface="Arial"/>
              </a:rPr>
              <a:t>spec</a:t>
            </a:r>
          </a:p>
        </p:txBody>
      </p:sp>
      <p:sp>
        <p:nvSpPr>
          <p:cNvPr id="25" name="TextBox 24"/>
          <p:cNvSpPr txBox="1"/>
          <p:nvPr/>
        </p:nvSpPr>
        <p:spPr>
          <a:xfrm>
            <a:off x="7232904" y="555040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desired state you are declaring. The controllers write the matching status field back for you.</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CHOOSING THE RIGHT CONTROLLER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Workload Resources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Pod</a:t>
            </a:r>
          </a:p>
          <a:p>
            <a:pPr algn="l">
              <a:spcAft>
                <a:spcPts val="300"/>
              </a:spcAft>
            </a:pPr>
            <a:r>
              <a:rPr sz="1200" b="0">
                <a:solidFill>
                  <a:srgbClr val="5B6372"/>
                </a:solidFill>
                <a:latin typeface="Arial"/>
              </a:rPr>
              <a:t>The smallest deployable unit. Rarely created directly — you almost always let a controller create it for you.</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ReplicaSet</a:t>
            </a:r>
          </a:p>
          <a:p>
            <a:pPr algn="l">
              <a:spcAft>
                <a:spcPts val="300"/>
              </a:spcAft>
            </a:pPr>
            <a:r>
              <a:rPr sz="1200" b="0">
                <a:solidFill>
                  <a:srgbClr val="5B6372"/>
                </a:solidFill>
                <a:latin typeface="Arial"/>
              </a:rPr>
              <a:t>Keeps exactly N identical Pods running. Managed for you by a Deployment; you rarely write one by hand.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Deployment</a:t>
            </a:r>
          </a:p>
          <a:p>
            <a:pPr algn="l">
              <a:spcAft>
                <a:spcPts val="300"/>
              </a:spcAft>
            </a:pPr>
            <a:r>
              <a:rPr sz="1200" b="0">
                <a:solidFill>
                  <a:srgbClr val="5B6372"/>
                </a:solidFill>
                <a:latin typeface="Arial"/>
              </a:rPr>
              <a:t>The workhorse for stateless apps. Manages ReplicaSets to give you rolling updates, rollback and scaling.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StatefulSet</a:t>
            </a:r>
          </a:p>
          <a:p>
            <a:pPr algn="l">
              <a:spcAft>
                <a:spcPts val="300"/>
              </a:spcAft>
            </a:pPr>
            <a:r>
              <a:rPr sz="1200" b="0">
                <a:solidFill>
                  <a:srgbClr val="5B6372"/>
                </a:solidFill>
                <a:latin typeface="Arial"/>
              </a:rPr>
              <a:t>For workloads needing stable network identity and their own persistent storage — databases, queues, clustered stores.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DaemonSet</a:t>
            </a:r>
          </a:p>
          <a:p>
            <a:pPr algn="l">
              <a:spcAft>
                <a:spcPts val="300"/>
              </a:spcAft>
            </a:pPr>
            <a:r>
              <a:rPr sz="1200" b="0">
                <a:solidFill>
                  <a:srgbClr val="5B6372"/>
                </a:solidFill>
                <a:latin typeface="Arial"/>
              </a:rPr>
              <a:t>Runs exactly one Pod per node. The pattern for log collectors, monitoring agents and CNI plugins.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Job and CronJob</a:t>
            </a:r>
          </a:p>
          <a:p>
            <a:pPr algn="l">
              <a:spcAft>
                <a:spcPts val="300"/>
              </a:spcAft>
            </a:pPr>
            <a:r>
              <a:rPr sz="1200" b="0">
                <a:solidFill>
                  <a:srgbClr val="5B6372"/>
                </a:solidFill>
                <a:latin typeface="Arial"/>
              </a:rPr>
              <a:t>Run work to completion, once or on a schedule — batch processing, backups, report generation.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 · DESIGN DECISION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Which Workload Resource Should You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Does each replica need
its own stable identity
and storage?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StatefulSet</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Ordinal names (db-0, db-1), a PVC per replica, ordered rollout and a stable DNS name. Databases and clustered stores.</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Deployment</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Interchangeable replicas, any Pod can serve any request, rolling updates in any order. Almost every stateless service.</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If the workload must run on every node instead, the answer is neither — use a DaemonSet. If it must finish and stop, use a Job.</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 · HOW OBJECTS FIND EACH OTHER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Labels, Selectors and Namespaces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Labels</a:t>
            </a:r>
          </a:p>
          <a:p>
            <a:pPr algn="l">
              <a:spcAft>
                <a:spcPts val="300"/>
              </a:spcAft>
            </a:pPr>
            <a:r>
              <a:rPr sz="1200" b="0">
                <a:solidFill>
                  <a:srgbClr val="5B6372"/>
                </a:solidFill>
                <a:latin typeface="Arial"/>
              </a:rPr>
              <a:t>Key-value pairs on an object: app=storefront, tier=api, env=prod. They carry meaning your tooling can act 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Selectors</a:t>
            </a:r>
          </a:p>
          <a:p>
            <a:pPr algn="l">
              <a:spcAft>
                <a:spcPts val="300"/>
              </a:spcAft>
            </a:pPr>
            <a:r>
              <a:rPr sz="1200" b="0">
                <a:solidFill>
                  <a:srgbClr val="5B6372"/>
                </a:solidFill>
                <a:latin typeface="Arial"/>
              </a:rPr>
              <a:t>How every controller and Service finds its objects. A Service has no list of Pods — it has a selector, matched continuously.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this matters</a:t>
            </a:r>
          </a:p>
          <a:p>
            <a:pPr algn="l">
              <a:spcAft>
                <a:spcPts val="300"/>
              </a:spcAft>
            </a:pPr>
            <a:r>
              <a:rPr sz="1200" b="0">
                <a:solidFill>
                  <a:srgbClr val="5B6372"/>
                </a:solidFill>
                <a:latin typeface="Arial"/>
              </a:rPr>
              <a:t>Loose coupling: scale a Deployment and the Service picks up the new Pods automatically, because the selector still matches.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Namespaces</a:t>
            </a:r>
          </a:p>
          <a:p>
            <a:pPr algn="l">
              <a:spcAft>
                <a:spcPts val="300"/>
              </a:spcAft>
            </a:pPr>
            <a:r>
              <a:rPr sz="1200" b="0">
                <a:solidFill>
                  <a:srgbClr val="5B6372"/>
                </a:solidFill>
                <a:latin typeface="Arial"/>
              </a:rPr>
              <a:t>A logical partition of the cluster for names, quotas and RBAC — dev, staging, prod, or one per team.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Not a security boundary alone</a:t>
            </a:r>
          </a:p>
          <a:p>
            <a:pPr algn="l">
              <a:spcAft>
                <a:spcPts val="300"/>
              </a:spcAft>
            </a:pPr>
            <a:r>
              <a:rPr sz="1200" b="0">
                <a:solidFill>
                  <a:srgbClr val="5B6372"/>
                </a:solidFill>
                <a:latin typeface="Arial"/>
              </a:rPr>
              <a:t>Namespaces separate names, not networks. Add NetworkPolicy and RBAC to make the boundary real.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Annotations</a:t>
            </a:r>
          </a:p>
          <a:p>
            <a:pPr algn="l">
              <a:spcAft>
                <a:spcPts val="300"/>
              </a:spcAft>
            </a:pPr>
            <a:r>
              <a:rPr sz="1200" b="0">
                <a:solidFill>
                  <a:srgbClr val="5B6372"/>
                </a:solidFill>
                <a:latin typeface="Arial"/>
              </a:rPr>
              <a:t>Non-identifying metadata for tools — build numbers, checksums, ingress configuration. Never used by selectors.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 · FILTER THEN SCORE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the Scheduler Places a Pod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Watch</a:t>
            </a:r>
          </a:p>
        </p:txBody>
      </p:sp>
      <p:sp>
        <p:nvSpPr>
          <p:cNvPr id="12" name="TextBox 11"/>
          <p:cNvSpPr txBox="1"/>
          <p:nvPr/>
        </p:nvSpPr>
        <p:spPr>
          <a:xfrm>
            <a:off x="850392"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Find Pods with spec.nodeName empty</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Filter</a:t>
            </a:r>
          </a:p>
        </p:txBody>
      </p:sp>
      <p:sp>
        <p:nvSpPr>
          <p:cNvPr id="19" name="TextBox 18"/>
          <p:cNvSpPr txBox="1"/>
          <p:nvPr/>
        </p:nvSpPr>
        <p:spPr>
          <a:xfrm>
            <a:off x="3054096"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Discard nodes that cannot run it</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Score</a:t>
            </a:r>
          </a:p>
        </p:txBody>
      </p:sp>
      <p:sp>
        <p:nvSpPr>
          <p:cNvPr id="26" name="TextBox 25"/>
          <p:cNvSpPr txBox="1"/>
          <p:nvPr/>
        </p:nvSpPr>
        <p:spPr>
          <a:xfrm>
            <a:off x="5257800"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Rank the remaining feasible nodes</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Bind</a:t>
            </a:r>
          </a:p>
        </p:txBody>
      </p:sp>
      <p:sp>
        <p:nvSpPr>
          <p:cNvPr id="33" name="TextBox 32"/>
          <p:cNvSpPr txBox="1"/>
          <p:nvPr/>
        </p:nvSpPr>
        <p:spPr>
          <a:xfrm>
            <a:off x="7461504"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Write the chosen node onto the Pod</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Start</a:t>
            </a:r>
          </a:p>
        </p:txBody>
      </p:sp>
      <p:sp>
        <p:nvSpPr>
          <p:cNvPr id="40" name="TextBox 39"/>
          <p:cNvSpPr txBox="1"/>
          <p:nvPr/>
        </p:nvSpPr>
        <p:spPr>
          <a:xfrm>
            <a:off x="9665208" y="3511296"/>
            <a:ext cx="1673352" cy="676656"/>
          </a:xfrm>
          <a:prstGeom prst="rect">
            <a:avLst/>
          </a:prstGeom>
          <a:noFill/>
        </p:spPr>
        <p:txBody>
          <a:bodyPr wrap="square" anchor="ctr">
            <a:spAutoFit/>
          </a:bodyPr>
          <a:lstStyle/>
          <a:p>
            <a:pPr algn="ctr">
              <a:spcAft>
                <a:spcPts val="0"/>
              </a:spcAft>
            </a:pPr>
            <a:r>
              <a:rPr sz="800" b="0">
                <a:solidFill>
                  <a:srgbClr val="5B6372"/>
                </a:solidFill>
                <a:latin typeface="Arial"/>
              </a:rPr>
              <a:t>The kubelet on that node takes over</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WHY PODS GO PENDING</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Pod stays Pending when filtering leaves no feasible node — insufficient CPU or memory, an unmatched nodeSelector, or an untolerated taint. Always read the FailedScheduling event before guessing.</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1 · RESOURCE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Requests vs Limits — What Each One Does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Request</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Limit</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Used by</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scheduler</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kubelet and the runtime</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Meaning</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Guaranteed minimum for placement</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Hard ceiling at runtime</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If CPU is exceeded</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Not applicable</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container is throttled</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If memory is exceeded</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Not applicable</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container is OOM-killed</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Omitting it</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Pod may be scheduled anywhere and starve</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container can consume the whole node</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Requests determine where a Pod lands; limits determine what happens once it runs. Setting requests without limits is a common and expensive mistake.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ALIGNED TO THE KCNA EXAM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Course Time Goes — Topic Weighting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Topic 1 alone is 46% of the KCNA exam — nearly half. If revision time is short, spend it on architecture, workload resources and scheduling.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PREVIEW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Cloud Native Landscape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CNCF</a:t>
            </a:r>
          </a:p>
          <a:p>
            <a:pPr algn="l">
              <a:spcAft>
                <a:spcPts val="300"/>
              </a:spcAft>
            </a:pPr>
            <a:r>
              <a:rPr sz="1300" b="0">
                <a:solidFill>
                  <a:srgbClr val="5B6372"/>
                </a:solidFill>
                <a:latin typeface="Arial"/>
              </a:rPr>
              <a:t>The Cloud Native Computing Foundation hosts Kubernetes and hundreds of related projects under neutral governance.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Maturity levels</a:t>
            </a:r>
          </a:p>
          <a:p>
            <a:pPr algn="l">
              <a:spcAft>
                <a:spcPts val="300"/>
              </a:spcAft>
            </a:pPr>
            <a:r>
              <a:rPr sz="1300" b="0">
                <a:solidFill>
                  <a:srgbClr val="5B6372"/>
                </a:solidFill>
                <a:latin typeface="Arial"/>
              </a:rPr>
              <a:t>Sandbox (early), Incubating (proven adopters), Graduated (production-ready) — a real signal for your blueprint.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Graduated examples</a:t>
            </a:r>
          </a:p>
          <a:p>
            <a:pPr algn="l">
              <a:spcAft>
                <a:spcPts val="300"/>
              </a:spcAft>
            </a:pPr>
            <a:r>
              <a:rPr sz="1300" b="0">
                <a:solidFill>
                  <a:srgbClr val="5B6372"/>
                </a:solidFill>
                <a:latin typeface="Arial"/>
              </a:rPr>
              <a:t>Kubernetes, Prometheus, Envoy, containerd, Helm, Argo, Fluentd, etcd, Linkerd, OpenTelemetry.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Open standards</a:t>
            </a:r>
          </a:p>
          <a:p>
            <a:pPr algn="l">
              <a:spcAft>
                <a:spcPts val="300"/>
              </a:spcAft>
            </a:pPr>
            <a:r>
              <a:rPr sz="1300" b="0">
                <a:solidFill>
                  <a:srgbClr val="5B6372"/>
                </a:solidFill>
                <a:latin typeface="Arial"/>
              </a:rPr>
              <a:t>OCI (images), CRI (runtimes), CNI (networking), CSI (storage), OpenTelemetry (telemetry) — portability by design.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TOPICS 1 TO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Journey Through This Course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Understand the architecture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Orchestrate and secure containers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Design for scale and resilience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Observe what is actually happening</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Deliver changes safely and review</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ONE INSTRUCTION = ONE LAYER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Anatomy of a Dockerfile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Base &amp; setup</a:t>
            </a:r>
          </a:p>
        </p:txBody>
      </p:sp>
      <p:sp>
        <p:nvSpPr>
          <p:cNvPr id="10" name="TextBox 9"/>
          <p:cNvSpPr txBox="1"/>
          <p:nvPr/>
        </p:nvSpPr>
        <p:spPr>
          <a:xfrm>
            <a:off x="100584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FROM — pick a small, pinned base</a:t>
            </a:r>
          </a:p>
          <a:p>
            <a:pPr>
              <a:spcAft>
                <a:spcPts val="900"/>
              </a:spcAft>
            </a:pPr>
            <a:r>
              <a:rPr sz="1400" b="0">
                <a:solidFill>
                  <a:srgbClr val="161B26"/>
                </a:solidFill>
                <a:latin typeface="Arial"/>
              </a:rPr>
              <a:t>•  WORKDIR — set the working directory</a:t>
            </a:r>
          </a:p>
          <a:p>
            <a:pPr>
              <a:spcAft>
                <a:spcPts val="900"/>
              </a:spcAft>
            </a:pPr>
            <a:r>
              <a:rPr sz="1400" b="0">
                <a:solidFill>
                  <a:srgbClr val="161B26"/>
                </a:solidFill>
                <a:latin typeface="Arial"/>
              </a:rPr>
              <a:t>•  COPY / ADD — bring your files in</a:t>
            </a:r>
          </a:p>
          <a:p>
            <a:pPr>
              <a:spcAft>
                <a:spcPts val="900"/>
              </a:spcAft>
            </a:pPr>
            <a:r>
              <a:rPr sz="1400" b="0">
                <a:solidFill>
                  <a:srgbClr val="161B26"/>
                </a:solidFill>
                <a:latin typeface="Arial"/>
              </a:rPr>
              <a:t>•  Each instruction becomes one layer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Build steps</a:t>
            </a:r>
          </a:p>
        </p:txBody>
      </p:sp>
      <p:sp>
        <p:nvSpPr>
          <p:cNvPr id="14" name="TextBox 13"/>
          <p:cNvSpPr txBox="1"/>
          <p:nvPr/>
        </p:nvSpPr>
        <p:spPr>
          <a:xfrm>
            <a:off x="480060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RUN — install dependencies</a:t>
            </a:r>
          </a:p>
          <a:p>
            <a:pPr>
              <a:spcAft>
                <a:spcPts val="900"/>
              </a:spcAft>
            </a:pPr>
            <a:r>
              <a:rPr sz="1400" b="0">
                <a:solidFill>
                  <a:srgbClr val="161B26"/>
                </a:solidFill>
                <a:latin typeface="Arial"/>
              </a:rPr>
              <a:t>•  Each line is one cached layer</a:t>
            </a:r>
          </a:p>
          <a:p>
            <a:pPr>
              <a:spcAft>
                <a:spcPts val="900"/>
              </a:spcAft>
            </a:pPr>
            <a:r>
              <a:rPr sz="1400" b="0">
                <a:solidFill>
                  <a:srgbClr val="161B26"/>
                </a:solidFill>
                <a:latin typeface="Arial"/>
              </a:rPr>
              <a:t>•  Order steps so the cache is reused</a:t>
            </a:r>
          </a:p>
          <a:p>
            <a:pPr>
              <a:spcAft>
                <a:spcPts val="900"/>
              </a:spcAft>
            </a:pPr>
            <a:r>
              <a:rPr sz="1400" b="0">
                <a:solidFill>
                  <a:srgbClr val="161B26"/>
                </a:solidFill>
                <a:latin typeface="Arial"/>
              </a:rPr>
              <a:t>•  Slow-changing steps go first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Runtime</a:t>
            </a:r>
          </a:p>
        </p:txBody>
      </p:sp>
      <p:sp>
        <p:nvSpPr>
          <p:cNvPr id="18" name="TextBox 17"/>
          <p:cNvSpPr txBox="1"/>
          <p:nvPr/>
        </p:nvSpPr>
        <p:spPr>
          <a:xfrm>
            <a:off x="859536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EXPOSE — document the port</a:t>
            </a:r>
          </a:p>
          <a:p>
            <a:pPr>
              <a:spcAft>
                <a:spcPts val="900"/>
              </a:spcAft>
            </a:pPr>
            <a:r>
              <a:rPr sz="1400" b="0">
                <a:solidFill>
                  <a:srgbClr val="161B26"/>
                </a:solidFill>
                <a:latin typeface="Arial"/>
              </a:rPr>
              <a:t>•  ENV — runtime configuration</a:t>
            </a:r>
          </a:p>
          <a:p>
            <a:pPr>
              <a:spcAft>
                <a:spcPts val="900"/>
              </a:spcAft>
            </a:pPr>
            <a:r>
              <a:rPr sz="1400" b="0">
                <a:solidFill>
                  <a:srgbClr val="161B26"/>
                </a:solidFill>
                <a:latin typeface="Arial"/>
              </a:rPr>
              <a:t>•  CMD / ENTRYPOINT — what runs</a:t>
            </a:r>
          </a:p>
          <a:p>
            <a:pPr>
              <a:spcAft>
                <a:spcPts val="900"/>
              </a:spcAft>
            </a:pPr>
            <a:r>
              <a:rPr sz="1400" b="0">
                <a:solidFill>
                  <a:srgbClr val="161B26"/>
                </a:solidFill>
                <a:latin typeface="Arial"/>
              </a:rPr>
              <a:t>•  USER — drop root before running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SHRINK THE IMAGE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Single-Stage vs Multi-Stage Build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Single stage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Multi-stage</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What ships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Compiler, source and dependencies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Only the built artifact</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Typical image size</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~800 MB</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~8 MB</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Attack surface</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Shell, package manager, build tools</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 shell, no package manager</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Build speed</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One pass</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Two stages, cached separately</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Use it when</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Quick experiments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Anything you ship to production</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COPY --from=builder pulls just the binary out of the build stage — the compiler and source never reach the final image.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ONE POD, MANY ROLES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Multi-Container Pod Patterns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Sidecar</a:t>
            </a:r>
          </a:p>
        </p:txBody>
      </p:sp>
      <p:sp>
        <p:nvSpPr>
          <p:cNvPr id="10" name="TextBox 9"/>
          <p:cNvSpPr txBox="1"/>
          <p:nvPr/>
        </p:nvSpPr>
        <p:spPr>
          <a:xfrm>
            <a:off x="100584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Runs beside the main application</a:t>
            </a:r>
          </a:p>
          <a:p>
            <a:pPr>
              <a:spcAft>
                <a:spcPts val="900"/>
              </a:spcAft>
            </a:pPr>
            <a:r>
              <a:rPr sz="1400" b="0">
                <a:solidFill>
                  <a:srgbClr val="161B26"/>
                </a:solidFill>
                <a:latin typeface="Arial"/>
              </a:rPr>
              <a:t>•  Shares an emptyDir volume</a:t>
            </a:r>
          </a:p>
          <a:p>
            <a:pPr>
              <a:spcAft>
                <a:spcPts val="900"/>
              </a:spcAft>
            </a:pPr>
            <a:r>
              <a:rPr sz="1400" b="0">
                <a:solidFill>
                  <a:srgbClr val="161B26"/>
                </a:solidFill>
                <a:latin typeface="Arial"/>
              </a:rPr>
              <a:t>•  Log shipping, proxying, syncing</a:t>
            </a:r>
          </a:p>
          <a:p>
            <a:pPr>
              <a:spcAft>
                <a:spcPts val="900"/>
              </a:spcAft>
            </a:pPr>
            <a:r>
              <a:rPr sz="1400" b="0">
                <a:solidFill>
                  <a:srgbClr val="161B26"/>
                </a:solidFill>
                <a:latin typeface="Arial"/>
              </a:rPr>
              <a:t>•  The most common pattern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Init container</a:t>
            </a:r>
          </a:p>
        </p:txBody>
      </p:sp>
      <p:sp>
        <p:nvSpPr>
          <p:cNvPr id="14" name="TextBox 13"/>
          <p:cNvSpPr txBox="1"/>
          <p:nvPr/>
        </p:nvSpPr>
        <p:spPr>
          <a:xfrm>
            <a:off x="480060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Runs first, to completion</a:t>
            </a:r>
          </a:p>
          <a:p>
            <a:pPr>
              <a:spcAft>
                <a:spcPts val="900"/>
              </a:spcAft>
            </a:pPr>
            <a:r>
              <a:rPr sz="1400" b="0">
                <a:solidFill>
                  <a:srgbClr val="161B26"/>
                </a:solidFill>
                <a:latin typeface="Arial"/>
              </a:rPr>
              <a:t>•  Pod shows Init:N/M while it runs</a:t>
            </a:r>
          </a:p>
          <a:p>
            <a:pPr>
              <a:spcAft>
                <a:spcPts val="900"/>
              </a:spcAft>
            </a:pPr>
            <a:r>
              <a:rPr sz="1400" b="0">
                <a:solidFill>
                  <a:srgbClr val="161B26"/>
                </a:solidFill>
                <a:latin typeface="Arial"/>
              </a:rPr>
              <a:t>•  Seed a volume, wait for a dependency</a:t>
            </a:r>
          </a:p>
          <a:p>
            <a:pPr>
              <a:spcAft>
                <a:spcPts val="900"/>
              </a:spcAft>
            </a:pPr>
            <a:r>
              <a:rPr sz="1400" b="0">
                <a:solidFill>
                  <a:srgbClr val="161B26"/>
                </a:solidFill>
                <a:latin typeface="Arial"/>
              </a:rPr>
              <a:t>•  Must succeed before the app starts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Adapter &amp; Ambassador</a:t>
            </a:r>
          </a:p>
        </p:txBody>
      </p:sp>
      <p:sp>
        <p:nvSpPr>
          <p:cNvPr id="18" name="TextBox 17"/>
          <p:cNvSpPr txBox="1"/>
          <p:nvPr/>
        </p:nvSpPr>
        <p:spPr>
          <a:xfrm>
            <a:off x="859536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Adapter reshapes output for a consumer</a:t>
            </a:r>
          </a:p>
          <a:p>
            <a:pPr>
              <a:spcAft>
                <a:spcPts val="900"/>
              </a:spcAft>
            </a:pPr>
            <a:r>
              <a:rPr sz="1400" b="0">
                <a:solidFill>
                  <a:srgbClr val="161B26"/>
                </a:solidFill>
                <a:latin typeface="Arial"/>
              </a:rPr>
              <a:t>•  Ambassador proxies outbound traffic</a:t>
            </a:r>
          </a:p>
          <a:p>
            <a:pPr>
              <a:spcAft>
                <a:spcPts val="900"/>
              </a:spcAft>
            </a:pPr>
            <a:r>
              <a:rPr sz="1400" b="0">
                <a:solidFill>
                  <a:srgbClr val="161B26"/>
                </a:solidFill>
                <a:latin typeface="Arial"/>
              </a:rPr>
              <a:t>•  Both keep the app code unchanged</a:t>
            </a:r>
          </a:p>
          <a:p>
            <a:pPr>
              <a:spcAft>
                <a:spcPts val="900"/>
              </a:spcAft>
            </a:pPr>
            <a:r>
              <a:rPr sz="1400" b="0">
                <a:solidFill>
                  <a:srgbClr val="161B26"/>
                </a:solidFill>
                <a:latin typeface="Arial"/>
              </a:rPr>
              <a:t>•  Standardise without rewriting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JOBS AND CRONJOBS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Run-to-Completion Workloads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completions</a:t>
            </a:r>
          </a:p>
          <a:p>
            <a:pPr algn="l">
              <a:spcAft>
                <a:spcPts val="300"/>
              </a:spcAft>
            </a:pPr>
            <a:r>
              <a:rPr sz="1200" b="0">
                <a:solidFill>
                  <a:srgbClr val="5B6372"/>
                </a:solidFill>
                <a:latin typeface="Arial"/>
              </a:rPr>
              <a:t>How many successful Pod runs the Job needs before it is complete.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parallelism</a:t>
            </a:r>
          </a:p>
          <a:p>
            <a:pPr algn="l">
              <a:spcAft>
                <a:spcPts val="300"/>
              </a:spcAft>
            </a:pPr>
            <a:r>
              <a:rPr sz="1200" b="0">
                <a:solidFill>
                  <a:srgbClr val="5B6372"/>
                </a:solidFill>
                <a:latin typeface="Arial"/>
              </a:rPr>
              <a:t>How many Pods the Job may run at the same time.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backoffLimit</a:t>
            </a:r>
          </a:p>
          <a:p>
            <a:pPr algn="l">
              <a:spcAft>
                <a:spcPts val="300"/>
              </a:spcAft>
            </a:pPr>
            <a:r>
              <a:rPr sz="1200" b="0">
                <a:solidFill>
                  <a:srgbClr val="5B6372"/>
                </a:solidFill>
                <a:latin typeface="Arial"/>
              </a:rPr>
              <a:t>How many failures are tolerated before the Job is marked failed.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activeDeadlineSeconds</a:t>
            </a:r>
          </a:p>
          <a:p>
            <a:pPr algn="l">
              <a:spcAft>
                <a:spcPts val="300"/>
              </a:spcAft>
            </a:pPr>
            <a:r>
              <a:rPr sz="1200" b="0">
                <a:solidFill>
                  <a:srgbClr val="5B6372"/>
                </a:solidFill>
                <a:latin typeface="Arial"/>
              </a:rPr>
              <a:t>A hard wall-clock ceiling that overrides the backoff limit.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CronJob schedule</a:t>
            </a:r>
          </a:p>
          <a:p>
            <a:pPr algn="l">
              <a:spcAft>
                <a:spcPts val="300"/>
              </a:spcAft>
            </a:pPr>
            <a:r>
              <a:rPr sz="1200" b="0">
                <a:solidFill>
                  <a:srgbClr val="5B6372"/>
                </a:solidFill>
                <a:latin typeface="Arial"/>
              </a:rPr>
              <a:t>Standard cron syntax plus an optional timeZone field.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concurrencyPolicy</a:t>
            </a:r>
          </a:p>
          <a:p>
            <a:pPr algn="l">
              <a:spcAft>
                <a:spcPts val="300"/>
              </a:spcAft>
            </a:pPr>
            <a:r>
              <a:rPr sz="1200" b="0">
                <a:solidFill>
                  <a:srgbClr val="5B6372"/>
                </a:solidFill>
                <a:latin typeface="Arial"/>
              </a:rPr>
              <a:t>Allow, Forbid or Replace — what happens when a run overlaps the previous one.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THREE WORKLOAD SHAPES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Pick the Right Controller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Deployment</a:t>
            </a:r>
          </a:p>
        </p:txBody>
      </p:sp>
      <p:sp>
        <p:nvSpPr>
          <p:cNvPr id="10" name="TextBox 9"/>
          <p:cNvSpPr txBox="1"/>
          <p:nvPr/>
        </p:nvSpPr>
        <p:spPr>
          <a:xfrm>
            <a:off x="100584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Stateless, interchangeable Pods</a:t>
            </a:r>
          </a:p>
          <a:p>
            <a:pPr>
              <a:spcAft>
                <a:spcPts val="900"/>
              </a:spcAft>
            </a:pPr>
            <a:r>
              <a:rPr sz="1400" b="0">
                <a:solidFill>
                  <a:srgbClr val="161B26"/>
                </a:solidFill>
                <a:latin typeface="Arial"/>
              </a:rPr>
              <a:t>•  Any number of replicas</a:t>
            </a:r>
          </a:p>
          <a:p>
            <a:pPr>
              <a:spcAft>
                <a:spcPts val="900"/>
              </a:spcAft>
            </a:pPr>
            <a:r>
              <a:rPr sz="1400" b="0">
                <a:solidFill>
                  <a:srgbClr val="161B26"/>
                </a:solidFill>
                <a:latin typeface="Arial"/>
              </a:rPr>
              <a:t>•  Rolling updates and rollback</a:t>
            </a:r>
          </a:p>
          <a:p>
            <a:pPr>
              <a:spcAft>
                <a:spcPts val="900"/>
              </a:spcAft>
            </a:pPr>
            <a:r>
              <a:rPr sz="1400" b="0">
                <a:solidFill>
                  <a:srgbClr val="161B26"/>
                </a:solidFill>
                <a:latin typeface="Arial"/>
              </a:rPr>
              <a:t>•  Almost every web service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DaemonSet</a:t>
            </a:r>
          </a:p>
        </p:txBody>
      </p:sp>
      <p:sp>
        <p:nvSpPr>
          <p:cNvPr id="14" name="TextBox 13"/>
          <p:cNvSpPr txBox="1"/>
          <p:nvPr/>
        </p:nvSpPr>
        <p:spPr>
          <a:xfrm>
            <a:off x="480060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Exactly one Pod per node</a:t>
            </a:r>
          </a:p>
          <a:p>
            <a:pPr>
              <a:spcAft>
                <a:spcPts val="900"/>
              </a:spcAft>
            </a:pPr>
            <a:r>
              <a:rPr sz="1400" b="0">
                <a:solidFill>
                  <a:srgbClr val="161B26"/>
                </a:solidFill>
                <a:latin typeface="Arial"/>
              </a:rPr>
              <a:t>•  Node-level agents</a:t>
            </a:r>
          </a:p>
          <a:p>
            <a:pPr>
              <a:spcAft>
                <a:spcPts val="900"/>
              </a:spcAft>
            </a:pPr>
            <a:r>
              <a:rPr sz="1400" b="0">
                <a:solidFill>
                  <a:srgbClr val="161B26"/>
                </a:solidFill>
                <a:latin typeface="Arial"/>
              </a:rPr>
              <a:t>•  Scales with the cluster</a:t>
            </a:r>
          </a:p>
          <a:p>
            <a:pPr>
              <a:spcAft>
                <a:spcPts val="900"/>
              </a:spcAft>
            </a:pPr>
            <a:r>
              <a:rPr sz="1400" b="0">
                <a:solidFill>
                  <a:srgbClr val="161B26"/>
                </a:solidFill>
                <a:latin typeface="Arial"/>
              </a:rPr>
              <a:t>•  Log collectors, CNI, exporters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StatefulSet</a:t>
            </a:r>
          </a:p>
        </p:txBody>
      </p:sp>
      <p:sp>
        <p:nvSpPr>
          <p:cNvPr id="18" name="TextBox 17"/>
          <p:cNvSpPr txBox="1"/>
          <p:nvPr/>
        </p:nvSpPr>
        <p:spPr>
          <a:xfrm>
            <a:off x="859536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Stable identity and storage</a:t>
            </a:r>
          </a:p>
          <a:p>
            <a:pPr>
              <a:spcAft>
                <a:spcPts val="900"/>
              </a:spcAft>
            </a:pPr>
            <a:r>
              <a:rPr sz="1400" b="0">
                <a:solidFill>
                  <a:srgbClr val="161B26"/>
                </a:solidFill>
                <a:latin typeface="Arial"/>
              </a:rPr>
              <a:t>•  Ordered start and stop</a:t>
            </a:r>
          </a:p>
          <a:p>
            <a:pPr>
              <a:spcAft>
                <a:spcPts val="900"/>
              </a:spcAft>
            </a:pPr>
            <a:r>
              <a:rPr sz="1400" b="0">
                <a:solidFill>
                  <a:srgbClr val="161B26"/>
                </a:solidFill>
                <a:latin typeface="Arial"/>
              </a:rPr>
              <a:t>•  db-0, db-1, db-2 by ordinal</a:t>
            </a:r>
          </a:p>
          <a:p>
            <a:pPr>
              <a:spcAft>
                <a:spcPts val="900"/>
              </a:spcAft>
            </a:pPr>
            <a:r>
              <a:rPr sz="1400" b="0">
                <a:solidFill>
                  <a:srgbClr val="161B26"/>
                </a:solidFill>
                <a:latin typeface="Arial"/>
              </a:rPr>
              <a:t>•  Databases and queues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WORKED EXAMPLE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Service Port Mapping — port, targetPort, nodePort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Three port fields confuse almost everyone the first time. Read them once, carefully.</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apiVersion: v1</a:t>
            </a:r>
          </a:p>
          <a:p>
            <a:pPr>
              <a:spcAft>
                <a:spcPts val="200"/>
              </a:spcAft>
            </a:pPr>
            <a:r>
              <a:rPr sz="1100">
                <a:solidFill>
                  <a:srgbClr val="9CDCFE"/>
                </a:solidFill>
                <a:latin typeface="Consolas"/>
              </a:rPr>
              <a:t>kind: Service</a:t>
            </a:r>
          </a:p>
          <a:p>
            <a:pPr>
              <a:spcAft>
                <a:spcPts val="200"/>
              </a:spcAft>
            </a:pPr>
            <a:r>
              <a:rPr sz="1100">
                <a:solidFill>
                  <a:srgbClr val="9CDCFE"/>
                </a:solidFill>
                <a:latin typeface="Consolas"/>
              </a:rPr>
              <a:t>metadata:</a:t>
            </a:r>
          </a:p>
          <a:p>
            <a:pPr>
              <a:spcAft>
                <a:spcPts val="200"/>
              </a:spcAft>
            </a:pPr>
            <a:r>
              <a:rPr sz="1100">
                <a:solidFill>
                  <a:srgbClr val="9CDCFE"/>
                </a:solidFill>
                <a:latin typeface="Consolas"/>
              </a:rPr>
              <a:t>  name: web-svc</a:t>
            </a:r>
          </a:p>
          <a:p>
            <a:pPr>
              <a:spcAft>
                <a:spcPts val="200"/>
              </a:spcAft>
            </a:pPr>
            <a:r>
              <a:rPr sz="1100">
                <a:solidFill>
                  <a:srgbClr val="9CDCFE"/>
                </a:solidFill>
                <a:latin typeface="Consolas"/>
              </a:rPr>
              <a:t>spec:</a:t>
            </a:r>
          </a:p>
          <a:p>
            <a:pPr>
              <a:spcAft>
                <a:spcPts val="200"/>
              </a:spcAft>
            </a:pPr>
            <a:r>
              <a:rPr sz="1100">
                <a:solidFill>
                  <a:srgbClr val="9CDCFE"/>
                </a:solidFill>
                <a:latin typeface="Consolas"/>
              </a:rPr>
              <a:t>  type: NodePort</a:t>
            </a:r>
          </a:p>
          <a:p>
            <a:pPr>
              <a:spcAft>
                <a:spcPts val="200"/>
              </a:spcAft>
            </a:pPr>
            <a:r>
              <a:rPr sz="1100">
                <a:solidFill>
                  <a:srgbClr val="9CDCFE"/>
                </a:solidFill>
                <a:latin typeface="Consolas"/>
              </a:rPr>
              <a:t>  selector:</a:t>
            </a:r>
          </a:p>
          <a:p>
            <a:pPr>
              <a:spcAft>
                <a:spcPts val="200"/>
              </a:spcAft>
            </a:pPr>
            <a:r>
              <a:rPr sz="1100">
                <a:solidFill>
                  <a:srgbClr val="9CDCFE"/>
                </a:solidFill>
                <a:latin typeface="Consolas"/>
              </a:rPr>
              <a:t>    app: web</a:t>
            </a:r>
          </a:p>
          <a:p>
            <a:pPr>
              <a:spcAft>
                <a:spcPts val="200"/>
              </a:spcAft>
            </a:pPr>
            <a:r>
              <a:rPr sz="1100">
                <a:solidFill>
                  <a:srgbClr val="9CDCFE"/>
                </a:solidFill>
                <a:latin typeface="Consolas"/>
              </a:rPr>
              <a:t>  ports:</a:t>
            </a:r>
          </a:p>
          <a:p>
            <a:pPr>
              <a:spcAft>
                <a:spcPts val="200"/>
              </a:spcAft>
            </a:pPr>
            <a:r>
              <a:rPr sz="1100">
                <a:solidFill>
                  <a:srgbClr val="9CDCFE"/>
                </a:solidFill>
                <a:latin typeface="Consolas"/>
              </a:rPr>
              <a:t>  - port: 80</a:t>
            </a:r>
          </a:p>
          <a:p>
            <a:pPr>
              <a:spcAft>
                <a:spcPts val="200"/>
              </a:spcAft>
            </a:pPr>
            <a:r>
              <a:rPr sz="1100">
                <a:solidFill>
                  <a:srgbClr val="9CDCFE"/>
                </a:solidFill>
                <a:latin typeface="Consolas"/>
              </a:rPr>
              <a:t>    targetPort: 8080</a:t>
            </a:r>
          </a:p>
          <a:p>
            <a:pPr>
              <a:spcAft>
                <a:spcPts val="200"/>
              </a:spcAft>
            </a:pPr>
            <a:r>
              <a:rPr sz="1100">
                <a:solidFill>
                  <a:srgbClr val="9CDCFE"/>
                </a:solidFill>
                <a:latin typeface="Consolas"/>
              </a:rPr>
              <a:t>    nodePort: 30080</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port</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port clients use to reach the Service on its ClusterIP.</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targetPort</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port the container itself is actually listening on.</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nodePort</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port opened on every node, from the 30000–32767 range.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57800"/>
            <a:ext cx="4005072" cy="292608"/>
          </a:xfrm>
          <a:prstGeom prst="rect">
            <a:avLst/>
          </a:prstGeom>
          <a:noFill/>
        </p:spPr>
        <p:txBody>
          <a:bodyPr wrap="square" anchor="t">
            <a:spAutoFit/>
          </a:bodyPr>
          <a:lstStyle/>
          <a:p>
            <a:pPr algn="l">
              <a:spcAft>
                <a:spcPts val="400"/>
              </a:spcAft>
            </a:pPr>
            <a:r>
              <a:rPr sz="1200" b="1">
                <a:solidFill>
                  <a:srgbClr val="F59E0B"/>
                </a:solidFill>
                <a:latin typeface="Arial"/>
              </a:rPr>
              <a:t>selector</a:t>
            </a:r>
          </a:p>
        </p:txBody>
      </p:sp>
      <p:sp>
        <p:nvSpPr>
          <p:cNvPr id="25" name="TextBox 24"/>
          <p:cNvSpPr txBox="1"/>
          <p:nvPr/>
        </p:nvSpPr>
        <p:spPr>
          <a:xfrm>
            <a:off x="7232904" y="555040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How the Service finds its Pods — a label mismatch is the most common bug.</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CLUSTER DNS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Service DNS — Names, Not IPs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full name</a:t>
            </a:r>
          </a:p>
          <a:p>
            <a:pPr algn="l">
              <a:spcAft>
                <a:spcPts val="300"/>
              </a:spcAft>
            </a:pPr>
            <a:r>
              <a:rPr sz="1200" b="0">
                <a:solidFill>
                  <a:srgbClr val="5B6372"/>
                </a:solidFill>
                <a:latin typeface="Arial"/>
              </a:rPr>
              <a:t>&lt;service&gt;.&lt;namespace&gt;.svc.cluster.local — the FQDN always resolves from anywhere.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Same namespace</a:t>
            </a:r>
          </a:p>
          <a:p>
            <a:pPr algn="l">
              <a:spcAft>
                <a:spcPts val="300"/>
              </a:spcAft>
            </a:pPr>
            <a:r>
              <a:rPr sz="1200" b="0">
                <a:solidFill>
                  <a:srgbClr val="5B6372"/>
                </a:solidFill>
                <a:latin typeface="Arial"/>
              </a:rPr>
              <a:t>Just use the Service name: curl http://web-svc/api — the Pod's search list completes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Different namespace</a:t>
            </a:r>
          </a:p>
          <a:p>
            <a:pPr algn="l">
              <a:spcAft>
                <a:spcPts val="300"/>
              </a:spcAft>
            </a:pPr>
            <a:r>
              <a:rPr sz="1200" b="0">
                <a:solidFill>
                  <a:srgbClr val="5B6372"/>
                </a:solidFill>
                <a:latin typeface="Arial"/>
              </a:rPr>
              <a:t>Include the namespace: curl http://web-svc.production/api.</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Who provides it</a:t>
            </a:r>
          </a:p>
          <a:p>
            <a:pPr algn="l">
              <a:spcAft>
                <a:spcPts val="300"/>
              </a:spcAft>
            </a:pPr>
            <a:r>
              <a:rPr sz="1200" b="0">
                <a:solidFill>
                  <a:srgbClr val="5B6372"/>
                </a:solidFill>
                <a:latin typeface="Arial"/>
              </a:rPr>
              <a:t>CoreDNS runs in kube-system and every Pod is configured to resolve through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Headless Services</a:t>
            </a:r>
          </a:p>
          <a:p>
            <a:pPr algn="l">
              <a:spcAft>
                <a:spcPts val="300"/>
              </a:spcAft>
            </a:pPr>
            <a:r>
              <a:rPr sz="1200" b="0">
                <a:solidFill>
                  <a:srgbClr val="5B6372"/>
                </a:solidFill>
                <a:latin typeface="Arial"/>
              </a:rPr>
              <a:t>clusterIP: None returns every Pod IP instead of one virtual IP — used by StatefulSets.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Empty Endpoints</a:t>
            </a:r>
          </a:p>
          <a:p>
            <a:pPr algn="l">
              <a:spcAft>
                <a:spcPts val="300"/>
              </a:spcAft>
            </a:pPr>
            <a:r>
              <a:rPr sz="1200" b="0">
                <a:solidFill>
                  <a:srgbClr val="5B6372"/>
                </a:solidFill>
                <a:latin typeface="Arial"/>
              </a:rPr>
              <a:t>If a Service has no endpoints, the selector does not match any Pod labels. Check that first.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ONE ENTRY POINT, MANY RULES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Ingress — L7 Routing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Internet</a:t>
            </a:r>
          </a:p>
        </p:txBody>
      </p:sp>
      <p:sp>
        <p:nvSpPr>
          <p:cNvPr id="12" name="TextBox 11"/>
          <p:cNvSpPr txBox="1"/>
          <p:nvPr/>
        </p:nvSpPr>
        <p:spPr>
          <a:xfrm>
            <a:off x="850392"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Client requests arrive on :443</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Ingress controller</a:t>
            </a:r>
          </a:p>
        </p:txBody>
      </p:sp>
      <p:sp>
        <p:nvSpPr>
          <p:cNvPr id="19" name="TextBox 18"/>
          <p:cNvSpPr txBox="1"/>
          <p:nvPr/>
        </p:nvSpPr>
        <p:spPr>
          <a:xfrm>
            <a:off x="3054096"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Terminates TLS, reads the rules</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Ingress rules</a:t>
            </a:r>
          </a:p>
        </p:txBody>
      </p:sp>
      <p:sp>
        <p:nvSpPr>
          <p:cNvPr id="26" name="TextBox 25"/>
          <p:cNvSpPr txBox="1"/>
          <p:nvPr/>
        </p:nvSpPr>
        <p:spPr>
          <a:xfrm>
            <a:off x="5257800"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host + path decide the target</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Service</a:t>
            </a:r>
          </a:p>
        </p:txBody>
      </p:sp>
      <p:sp>
        <p:nvSpPr>
          <p:cNvPr id="33" name="TextBox 32"/>
          <p:cNvSpPr txBox="1"/>
          <p:nvPr/>
        </p:nvSpPr>
        <p:spPr>
          <a:xfrm>
            <a:off x="7461504"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The matching ClusterIP Service</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Pods</a:t>
            </a:r>
          </a:p>
        </p:txBody>
      </p:sp>
      <p:sp>
        <p:nvSpPr>
          <p:cNvPr id="40" name="TextBox 39"/>
          <p:cNvSpPr txBox="1"/>
          <p:nvPr/>
        </p:nvSpPr>
        <p:spPr>
          <a:xfrm>
            <a:off x="9665208"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A healthy backing Pod serves it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SERVICES VS INGRESS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Service exposes one workload at L4. An Ingress is a single HTTP entry point that routes by host and path to many Services — and terminates TLS on the way in.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2 · NETWORK ISOLATION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NetworkPolicy Patterns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Default is wide open</a:t>
            </a:r>
          </a:p>
          <a:p>
            <a:pPr algn="l">
              <a:spcAft>
                <a:spcPts val="300"/>
              </a:spcAft>
            </a:pPr>
            <a:r>
              <a:rPr sz="1200" b="0">
                <a:solidFill>
                  <a:srgbClr val="5B6372"/>
                </a:solidFill>
                <a:latin typeface="Arial"/>
              </a:rPr>
              <a:t>With no policy, every Pod can reach every other Pod on any port. Isolation is opt-in.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Default-deny ingress</a:t>
            </a:r>
          </a:p>
          <a:p>
            <a:pPr algn="l">
              <a:spcAft>
                <a:spcPts val="300"/>
              </a:spcAft>
            </a:pPr>
            <a:r>
              <a:rPr sz="1200" b="0">
                <a:solidFill>
                  <a:srgbClr val="5B6372"/>
                </a:solidFill>
                <a:latin typeface="Arial"/>
              </a:rPr>
              <a:t>podSelector: {} with policyTypes: [Ingress] and no rules blocks all inbound traffic.</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Default-deny egress</a:t>
            </a:r>
          </a:p>
          <a:p>
            <a:pPr algn="l">
              <a:spcAft>
                <a:spcPts val="300"/>
              </a:spcAft>
            </a:pPr>
            <a:r>
              <a:rPr sz="1200" b="0">
                <a:solidFill>
                  <a:srgbClr val="5B6372"/>
                </a:solidFill>
                <a:latin typeface="Arial"/>
              </a:rPr>
              <a:t>The same shape with policyTypes: [Egress] blocks all outbound traffic.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Always allow DNS</a:t>
            </a:r>
          </a:p>
          <a:p>
            <a:pPr algn="l">
              <a:spcAft>
                <a:spcPts val="300"/>
              </a:spcAft>
            </a:pPr>
            <a:r>
              <a:rPr sz="1200" b="0">
                <a:solidFill>
                  <a:srgbClr val="5B6372"/>
                </a:solidFill>
                <a:latin typeface="Arial"/>
              </a:rPr>
              <a:t>Egress policies must permit UDP port 53, or Pods can no longer resolve Service names.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Selecting sources</a:t>
            </a:r>
          </a:p>
          <a:p>
            <a:pPr algn="l">
              <a:spcAft>
                <a:spcPts val="300"/>
              </a:spcAft>
            </a:pPr>
            <a:r>
              <a:rPr sz="1200" b="0">
                <a:solidFill>
                  <a:srgbClr val="5B6372"/>
                </a:solidFill>
                <a:latin typeface="Arial"/>
              </a:rPr>
              <a:t>Allow by podSelector (Pods by label), namespaceSelector (a whole namespace) or ipBlock (a CIDR).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Policies are additive</a:t>
            </a:r>
          </a:p>
          <a:p>
            <a:pPr algn="l">
              <a:spcAft>
                <a:spcPts val="300"/>
              </a:spcAft>
            </a:pPr>
            <a:r>
              <a:rPr sz="1200" b="0">
                <a:solidFill>
                  <a:srgbClr val="5B6372"/>
                </a:solidFill>
                <a:latin typeface="Arial"/>
              </a:rPr>
              <a:t>Multiple policies combine with a logical OR of their allow rules — nothing subtracts.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2 · AUTHORISATION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RBAC — How a Request Is Authorised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Subject</a:t>
            </a:r>
          </a:p>
        </p:txBody>
      </p:sp>
      <p:sp>
        <p:nvSpPr>
          <p:cNvPr id="12" name="TextBox 11"/>
          <p:cNvSpPr txBox="1"/>
          <p:nvPr/>
        </p:nvSpPr>
        <p:spPr>
          <a:xfrm>
            <a:off x="850392"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A User, Group or ServiceAccount</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Binding</a:t>
            </a:r>
          </a:p>
        </p:txBody>
      </p:sp>
      <p:sp>
        <p:nvSpPr>
          <p:cNvPr id="19" name="TextBox 18"/>
          <p:cNvSpPr txBox="1"/>
          <p:nvPr/>
        </p:nvSpPr>
        <p:spPr>
          <a:xfrm>
            <a:off x="3054096"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RoleBinding / ClusterRoleBinding</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Role</a:t>
            </a:r>
          </a:p>
        </p:txBody>
      </p:sp>
      <p:sp>
        <p:nvSpPr>
          <p:cNvPr id="26" name="TextBox 25"/>
          <p:cNvSpPr txBox="1"/>
          <p:nvPr/>
        </p:nvSpPr>
        <p:spPr>
          <a:xfrm>
            <a:off x="5257800"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Role or ClusterRole is referenced</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Rules</a:t>
            </a:r>
          </a:p>
        </p:txBody>
      </p:sp>
      <p:sp>
        <p:nvSpPr>
          <p:cNvPr id="33" name="TextBox 32"/>
          <p:cNvSpPr txBox="1"/>
          <p:nvPr/>
        </p:nvSpPr>
        <p:spPr>
          <a:xfrm>
            <a:off x="7461504"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verbs + resources are evaluated</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Decision</a:t>
            </a:r>
          </a:p>
        </p:txBody>
      </p:sp>
      <p:sp>
        <p:nvSpPr>
          <p:cNvPr id="40" name="TextBox 39"/>
          <p:cNvSpPr txBox="1"/>
          <p:nvPr/>
        </p:nvSpPr>
        <p:spPr>
          <a:xfrm>
            <a:off x="9665208"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The API server allows or denies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SCOPE IS THE TRAP</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Role + RoleBinding is namespace-scoped; ClusterRole + ClusterRoleBinding is cluster-wide. A ClusterRole bound with a RoleBinding grants its rules in that one namespace only.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EXTERNAL CONFIGURATION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ConfigMaps and Secrets — Decouple Config from Image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ConfigMap</a:t>
            </a:r>
          </a:p>
          <a:p>
            <a:pPr algn="l">
              <a:spcAft>
                <a:spcPts val="300"/>
              </a:spcAft>
            </a:pPr>
            <a:r>
              <a:rPr sz="1200" b="0">
                <a:solidFill>
                  <a:srgbClr val="5B6372"/>
                </a:solidFill>
                <a:latin typeface="Arial"/>
              </a:rPr>
              <a:t>Non-secret key/value data. Create with --from-literal, --from-file or --from-env-file.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Secret</a:t>
            </a:r>
          </a:p>
          <a:p>
            <a:pPr algn="l">
              <a:spcAft>
                <a:spcPts val="300"/>
              </a:spcAft>
            </a:pPr>
            <a:r>
              <a:rPr sz="1200" b="0">
                <a:solidFill>
                  <a:srgbClr val="5B6372"/>
                </a:solidFill>
                <a:latin typeface="Arial"/>
              </a:rPr>
              <a:t>The same shape, but base64-encoded and more tightly controlled. Types: generic, tls, docker-registry.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Injecting one key</a:t>
            </a:r>
          </a:p>
          <a:p>
            <a:pPr algn="l">
              <a:spcAft>
                <a:spcPts val="300"/>
              </a:spcAft>
            </a:pPr>
            <a:r>
              <a:rPr sz="1200" b="0">
                <a:solidFill>
                  <a:srgbClr val="5B6372"/>
                </a:solidFill>
                <a:latin typeface="Arial"/>
              </a:rPr>
              <a:t>configMapKeyRef or secretKeyRef pulls a single key into an environment variable.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Injecting all keys</a:t>
            </a:r>
          </a:p>
          <a:p>
            <a:pPr algn="l">
              <a:spcAft>
                <a:spcPts val="300"/>
              </a:spcAft>
            </a:pPr>
            <a:r>
              <a:rPr sz="1200" b="0">
                <a:solidFill>
                  <a:srgbClr val="5B6372"/>
                </a:solidFill>
                <a:latin typeface="Arial"/>
              </a:rPr>
              <a:t>envFrom with configMapRef or secretRef brings the whole object in at once.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Mounting as files</a:t>
            </a:r>
          </a:p>
          <a:p>
            <a:pPr algn="l">
              <a:spcAft>
                <a:spcPts val="300"/>
              </a:spcAft>
            </a:pPr>
            <a:r>
              <a:rPr sz="1200" b="0">
                <a:solidFill>
                  <a:srgbClr val="5B6372"/>
                </a:solidFill>
                <a:latin typeface="Arial"/>
              </a:rPr>
              <a:t>A volume mount writes each key as a file — and volume-mounted ConfigMaps update live.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Base64 is not encryption</a:t>
            </a:r>
          </a:p>
          <a:p>
            <a:pPr algn="l">
              <a:spcAft>
                <a:spcPts val="300"/>
              </a:spcAft>
            </a:pPr>
            <a:r>
              <a:rPr sz="1200" b="0">
                <a:solidFill>
                  <a:srgbClr val="5B6372"/>
                </a:solidFill>
                <a:latin typeface="Arial"/>
              </a:rPr>
              <a:t>Anyone who can read the Secret can decode it. Restrict with RBAC and enable encryption at rest.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2 · LEAST PRIVILEGE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Run Containers Safely — securityContext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it sets</a:t>
            </a:r>
          </a:p>
          <a:p>
            <a:pPr algn="l">
              <a:spcAft>
                <a:spcPts val="300"/>
              </a:spcAft>
            </a:pPr>
            <a:r>
              <a:rPr sz="1200" b="0">
                <a:solidFill>
                  <a:srgbClr val="5B6372"/>
                </a:solidFill>
                <a:latin typeface="Arial"/>
              </a:rPr>
              <a:t>The user, group and privileges a container runs with.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Two levels</a:t>
            </a:r>
          </a:p>
          <a:p>
            <a:pPr algn="l">
              <a:spcAft>
                <a:spcPts val="300"/>
              </a:spcAft>
            </a:pPr>
            <a:r>
              <a:rPr sz="1200" b="0">
                <a:solidFill>
                  <a:srgbClr val="5B6372"/>
                </a:solidFill>
                <a:latin typeface="Arial"/>
              </a:rPr>
              <a:t>Pod-level applies to every container; container-level overrides it for one.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runAsNonRoot: true</a:t>
            </a:r>
          </a:p>
          <a:p>
            <a:pPr algn="l">
              <a:spcAft>
                <a:spcPts val="300"/>
              </a:spcAft>
            </a:pPr>
            <a:r>
              <a:rPr sz="1200" b="0">
                <a:solidFill>
                  <a:srgbClr val="5B6372"/>
                </a:solidFill>
                <a:latin typeface="Arial"/>
              </a:rPr>
              <a:t>Blocks any image whose default user is root — the single highest-value setting.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readOnlyRootFilesystem</a:t>
            </a:r>
          </a:p>
          <a:p>
            <a:pPr algn="l">
              <a:spcAft>
                <a:spcPts val="300"/>
              </a:spcAft>
            </a:pPr>
            <a:r>
              <a:rPr sz="1200" b="0">
                <a:solidFill>
                  <a:srgbClr val="5B6372"/>
                </a:solidFill>
                <a:latin typeface="Arial"/>
              </a:rPr>
              <a:t>Makes the container filesystem immutable; writeable paths must be explicit volumes.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Drop capabilities</a:t>
            </a:r>
          </a:p>
          <a:p>
            <a:pPr algn="l">
              <a:spcAft>
                <a:spcPts val="300"/>
              </a:spcAft>
            </a:pPr>
            <a:r>
              <a:rPr sz="1200" b="0">
                <a:solidFill>
                  <a:srgbClr val="5B6372"/>
                </a:solidFill>
                <a:latin typeface="Arial"/>
              </a:rPr>
              <a:t>capabilities.drop: [ALL] removes every Linux capability, then add back only what is needed.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allowPrivilegeEscalation: false</a:t>
            </a:r>
          </a:p>
          <a:p>
            <a:pPr algn="l">
              <a:spcAft>
                <a:spcPts val="300"/>
              </a:spcAft>
            </a:pPr>
            <a:r>
              <a:rPr sz="1200" b="0">
                <a:solidFill>
                  <a:srgbClr val="5B6372"/>
                </a:solidFill>
                <a:latin typeface="Arial"/>
              </a:rPr>
              <a:t>Stops a process gaining more privileges than its parent had.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SCALE PODS, RESOURCES OR NODES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Autoscaling — Three Axes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HPA — Horizontal</a:t>
            </a:r>
          </a:p>
        </p:txBody>
      </p:sp>
      <p:sp>
        <p:nvSpPr>
          <p:cNvPr id="10" name="TextBox 9"/>
          <p:cNvSpPr txBox="1"/>
          <p:nvPr/>
        </p:nvSpPr>
        <p:spPr>
          <a:xfrm>
            <a:off x="100584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Adds or removes Pod replicas</a:t>
            </a:r>
          </a:p>
          <a:p>
            <a:pPr>
              <a:spcAft>
                <a:spcPts val="900"/>
              </a:spcAft>
            </a:pPr>
            <a:r>
              <a:rPr sz="1400" b="0">
                <a:solidFill>
                  <a:srgbClr val="161B26"/>
                </a:solidFill>
                <a:latin typeface="Arial"/>
              </a:rPr>
              <a:t>•  Driven by CPU, memory or custom metrics</a:t>
            </a:r>
          </a:p>
          <a:p>
            <a:pPr>
              <a:spcAft>
                <a:spcPts val="900"/>
              </a:spcAft>
            </a:pPr>
            <a:r>
              <a:rPr sz="1400" b="0">
                <a:solidFill>
                  <a:srgbClr val="161B26"/>
                </a:solidFill>
                <a:latin typeface="Arial"/>
              </a:rPr>
              <a:t>•  Needs metrics-server and resource requests</a:t>
            </a:r>
          </a:p>
          <a:p>
            <a:pPr>
              <a:spcAft>
                <a:spcPts val="900"/>
              </a:spcAft>
            </a:pPr>
            <a:r>
              <a:rPr sz="1400" b="0">
                <a:solidFill>
                  <a:srgbClr val="161B26"/>
                </a:solidFill>
                <a:latin typeface="Arial"/>
              </a:rPr>
              <a:t>•  The one you will use most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VPA — Vertical</a:t>
            </a:r>
          </a:p>
        </p:txBody>
      </p:sp>
      <p:sp>
        <p:nvSpPr>
          <p:cNvPr id="14" name="TextBox 13"/>
          <p:cNvSpPr txBox="1"/>
          <p:nvPr/>
        </p:nvSpPr>
        <p:spPr>
          <a:xfrm>
            <a:off x="480060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Right-sizes requests and limits</a:t>
            </a:r>
          </a:p>
          <a:p>
            <a:pPr>
              <a:spcAft>
                <a:spcPts val="900"/>
              </a:spcAft>
            </a:pPr>
            <a:r>
              <a:rPr sz="1400" b="0">
                <a:solidFill>
                  <a:srgbClr val="161B26"/>
                </a:solidFill>
                <a:latin typeface="Arial"/>
              </a:rPr>
              <a:t>•  Learns from historic usage</a:t>
            </a:r>
          </a:p>
          <a:p>
            <a:pPr>
              <a:spcAft>
                <a:spcPts val="900"/>
              </a:spcAft>
            </a:pPr>
            <a:r>
              <a:rPr sz="1400" b="0">
                <a:solidFill>
                  <a:srgbClr val="161B26"/>
                </a:solidFill>
                <a:latin typeface="Arial"/>
              </a:rPr>
              <a:t>•  Installed as an add-on</a:t>
            </a:r>
          </a:p>
          <a:p>
            <a:pPr>
              <a:spcAft>
                <a:spcPts val="900"/>
              </a:spcAft>
            </a:pPr>
            <a:r>
              <a:rPr sz="1400" b="0">
                <a:solidFill>
                  <a:srgbClr val="161B26"/>
                </a:solidFill>
                <a:latin typeface="Arial"/>
              </a:rPr>
              <a:t>•  Do not run it on the same target as an HPA</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Cluster Autoscaler</a:t>
            </a:r>
          </a:p>
        </p:txBody>
      </p:sp>
      <p:sp>
        <p:nvSpPr>
          <p:cNvPr id="18" name="TextBox 17"/>
          <p:cNvSpPr txBox="1"/>
          <p:nvPr/>
        </p:nvSpPr>
        <p:spPr>
          <a:xfrm>
            <a:off x="859536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Adds or removes whole nodes</a:t>
            </a:r>
          </a:p>
          <a:p>
            <a:pPr>
              <a:spcAft>
                <a:spcPts val="900"/>
              </a:spcAft>
            </a:pPr>
            <a:r>
              <a:rPr sz="1400" b="0">
                <a:solidFill>
                  <a:srgbClr val="161B26"/>
                </a:solidFill>
                <a:latin typeface="Arial"/>
              </a:rPr>
              <a:t>•  Reacts to unschedulable Pods</a:t>
            </a:r>
          </a:p>
          <a:p>
            <a:pPr>
              <a:spcAft>
                <a:spcPts val="900"/>
              </a:spcAft>
            </a:pPr>
            <a:r>
              <a:rPr sz="1400" b="0">
                <a:solidFill>
                  <a:srgbClr val="161B26"/>
                </a:solidFill>
                <a:latin typeface="Arial"/>
              </a:rPr>
              <a:t>•  Provided by the cloud platform</a:t>
            </a:r>
          </a:p>
          <a:p>
            <a:pPr>
              <a:spcAft>
                <a:spcPts val="900"/>
              </a:spcAft>
            </a:pPr>
            <a:r>
              <a:rPr sz="1400" b="0">
                <a:solidFill>
                  <a:srgbClr val="161B26"/>
                </a:solidFill>
                <a:latin typeface="Arial"/>
              </a:rPr>
              <a:t>•  The HPA is useless without capacity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CONTAINER HEALTH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Three Probes, Three Jobs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livenessProbe</a:t>
            </a:r>
          </a:p>
        </p:txBody>
      </p:sp>
      <p:sp>
        <p:nvSpPr>
          <p:cNvPr id="10" name="TextBox 9"/>
          <p:cNvSpPr txBox="1"/>
          <p:nvPr/>
        </p:nvSpPr>
        <p:spPr>
          <a:xfrm>
            <a:off x="100584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'Is it still working?'</a:t>
            </a:r>
          </a:p>
          <a:p>
            <a:pPr>
              <a:spcAft>
                <a:spcPts val="900"/>
              </a:spcAft>
            </a:pPr>
            <a:r>
              <a:rPr sz="1400" b="0">
                <a:solidFill>
                  <a:srgbClr val="161B26"/>
                </a:solidFill>
                <a:latin typeface="Arial"/>
              </a:rPr>
              <a:t>•  Restarts a hung or deadlocked container</a:t>
            </a:r>
          </a:p>
          <a:p>
            <a:pPr>
              <a:spcAft>
                <a:spcPts val="900"/>
              </a:spcAft>
            </a:pPr>
            <a:r>
              <a:rPr sz="1400" b="0">
                <a:solidFill>
                  <a:srgbClr val="161B26"/>
                </a:solidFill>
                <a:latin typeface="Arial"/>
              </a:rPr>
              <a:t>•  Too aggressive = restart loops</a:t>
            </a:r>
          </a:p>
          <a:p>
            <a:pPr>
              <a:spcAft>
                <a:spcPts val="900"/>
              </a:spcAft>
            </a:pPr>
            <a:r>
              <a:rPr sz="1400" b="0">
                <a:solidFill>
                  <a:srgbClr val="161B26"/>
                </a:solidFill>
                <a:latin typeface="Arial"/>
              </a:rPr>
              <a:t>•  Handler: httpGet, tcpSocket or exec</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readinessProbe</a:t>
            </a:r>
          </a:p>
        </p:txBody>
      </p:sp>
      <p:sp>
        <p:nvSpPr>
          <p:cNvPr id="14" name="TextBox 13"/>
          <p:cNvSpPr txBox="1"/>
          <p:nvPr/>
        </p:nvSpPr>
        <p:spPr>
          <a:xfrm>
            <a:off x="480060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'Can it serve traffic yet?'</a:t>
            </a:r>
          </a:p>
          <a:p>
            <a:pPr>
              <a:spcAft>
                <a:spcPts val="900"/>
              </a:spcAft>
            </a:pPr>
            <a:r>
              <a:rPr sz="1400" b="0">
                <a:solidFill>
                  <a:srgbClr val="161B26"/>
                </a:solidFill>
                <a:latin typeface="Arial"/>
              </a:rPr>
              <a:t>•  Removes the Pod from Service endpoints</a:t>
            </a:r>
          </a:p>
          <a:p>
            <a:pPr>
              <a:spcAft>
                <a:spcPts val="900"/>
              </a:spcAft>
            </a:pPr>
            <a:r>
              <a:rPr sz="1400" b="0">
                <a:solidFill>
                  <a:srgbClr val="161B26"/>
                </a:solidFill>
                <a:latin typeface="Arial"/>
              </a:rPr>
              <a:t>•  Never restarts the container</a:t>
            </a:r>
          </a:p>
          <a:p>
            <a:pPr>
              <a:spcAft>
                <a:spcPts val="900"/>
              </a:spcAft>
            </a:pPr>
            <a:r>
              <a:rPr sz="1400" b="0">
                <a:solidFill>
                  <a:srgbClr val="161B26"/>
                </a:solidFill>
                <a:latin typeface="Arial"/>
              </a:rPr>
              <a:t>•  The one that prevents 502s on rollout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startupProbe</a:t>
            </a:r>
          </a:p>
        </p:txBody>
      </p:sp>
      <p:sp>
        <p:nvSpPr>
          <p:cNvPr id="18" name="TextBox 17"/>
          <p:cNvSpPr txBox="1"/>
          <p:nvPr/>
        </p:nvSpPr>
        <p:spPr>
          <a:xfrm>
            <a:off x="859536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'Has it finished booting?'</a:t>
            </a:r>
          </a:p>
          <a:p>
            <a:pPr>
              <a:spcAft>
                <a:spcPts val="900"/>
              </a:spcAft>
            </a:pPr>
            <a:r>
              <a:rPr sz="1400" b="0">
                <a:solidFill>
                  <a:srgbClr val="161B26"/>
                </a:solidFill>
                <a:latin typeface="Arial"/>
              </a:rPr>
              <a:t>•  For slow-starting legacy apps</a:t>
            </a:r>
          </a:p>
          <a:p>
            <a:pPr>
              <a:spcAft>
                <a:spcPts val="900"/>
              </a:spcAft>
            </a:pPr>
            <a:r>
              <a:rPr sz="1400" b="0">
                <a:solidFill>
                  <a:srgbClr val="161B26"/>
                </a:solidFill>
                <a:latin typeface="Arial"/>
              </a:rPr>
              <a:t>•  Blocks the other two until it passes</a:t>
            </a:r>
          </a:p>
          <a:p>
            <a:pPr>
              <a:spcAft>
                <a:spcPts val="900"/>
              </a:spcAft>
            </a:pPr>
            <a:r>
              <a:rPr sz="1400" b="0">
                <a:solidFill>
                  <a:srgbClr val="161B26"/>
                </a:solidFill>
                <a:latin typeface="Arial"/>
              </a:rPr>
              <a:t>•  Prevents premature liveness restarts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3 · GUARDRAILS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Govern Resource Consumption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ResourceQuota</a:t>
            </a:r>
          </a:p>
          <a:p>
            <a:pPr algn="l">
              <a:spcAft>
                <a:spcPts val="300"/>
              </a:spcAft>
            </a:pPr>
            <a:r>
              <a:rPr sz="1200" b="0">
                <a:solidFill>
                  <a:srgbClr val="5B6372"/>
                </a:solidFill>
                <a:latin typeface="Arial"/>
              </a:rPr>
              <a:t>Caps what a whole namespace may consume — Pod count, total requests and total limits.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LimitRange</a:t>
            </a:r>
          </a:p>
          <a:p>
            <a:pPr algn="l">
              <a:spcAft>
                <a:spcPts val="300"/>
              </a:spcAft>
            </a:pPr>
            <a:r>
              <a:rPr sz="1200" b="0">
                <a:solidFill>
                  <a:srgbClr val="5B6372"/>
                </a:solidFill>
                <a:latin typeface="Arial"/>
              </a:rPr>
              <a:t>Enforces per-container defaults, default requests and maximum values.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They work together</a:t>
            </a:r>
          </a:p>
          <a:p>
            <a:pPr algn="l">
              <a:spcAft>
                <a:spcPts val="300"/>
              </a:spcAft>
            </a:pPr>
            <a:r>
              <a:rPr sz="1200" b="0">
                <a:solidFill>
                  <a:srgbClr val="5B6372"/>
                </a:solidFill>
                <a:latin typeface="Arial"/>
              </a:rPr>
              <a:t>In a quota-enforced namespace, a Pod with no resource block is rejected unless a LimitRange supplies defaults.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Units</a:t>
            </a:r>
          </a:p>
          <a:p>
            <a:pPr algn="l">
              <a:spcAft>
                <a:spcPts val="300"/>
              </a:spcAft>
            </a:pPr>
            <a:r>
              <a:rPr sz="1200" b="0">
                <a:solidFill>
                  <a:srgbClr val="5B6372"/>
                </a:solidFill>
                <a:latin typeface="Arial"/>
              </a:rPr>
              <a:t>CPU is measured in millicores (600m = 0.6 of a core); memory in bytes (100Mi, 2Gi).</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Troubleshooting</a:t>
            </a:r>
          </a:p>
          <a:p>
            <a:pPr algn="l">
              <a:spcAft>
                <a:spcPts val="300"/>
              </a:spcAft>
            </a:pPr>
            <a:r>
              <a:rPr sz="1200" b="0">
                <a:solidFill>
                  <a:srgbClr val="5B6372"/>
                </a:solidFill>
                <a:latin typeface="Arial"/>
              </a:rPr>
              <a:t>kubectl describe quota shows Used against Hard — the first place to look.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it matters</a:t>
            </a:r>
          </a:p>
          <a:p>
            <a:pPr algn="l">
              <a:spcAft>
                <a:spcPts val="300"/>
              </a:spcAft>
            </a:pPr>
            <a:r>
              <a:rPr sz="1200" b="0">
                <a:solidFill>
                  <a:srgbClr val="5B6372"/>
                </a:solidFill>
                <a:latin typeface="Arial"/>
              </a:rPr>
              <a:t>Quotas are how a shared cluster stays fair, and how one team's bug stops being everyone's outage.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 · CHOOSING A RELEASE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Deployment Strategies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Rolling update</a:t>
            </a:r>
          </a:p>
        </p:txBody>
      </p:sp>
      <p:sp>
        <p:nvSpPr>
          <p:cNvPr id="10" name="TextBox 9"/>
          <p:cNvSpPr txBox="1"/>
          <p:nvPr/>
        </p:nvSpPr>
        <p:spPr>
          <a:xfrm>
            <a:off x="100584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The default strategy</a:t>
            </a:r>
          </a:p>
          <a:p>
            <a:pPr>
              <a:spcAft>
                <a:spcPts val="900"/>
              </a:spcAft>
            </a:pPr>
            <a:r>
              <a:rPr sz="1400" b="0">
                <a:solidFill>
                  <a:srgbClr val="161B26"/>
                </a:solidFill>
                <a:latin typeface="Arial"/>
              </a:rPr>
              <a:t>•  maxSurge / maxUnavailable tune it</a:t>
            </a:r>
          </a:p>
          <a:p>
            <a:pPr>
              <a:spcAft>
                <a:spcPts val="900"/>
              </a:spcAft>
            </a:pPr>
            <a:r>
              <a:rPr sz="1400" b="0">
                <a:solidFill>
                  <a:srgbClr val="161B26"/>
                </a:solidFill>
                <a:latin typeface="Arial"/>
              </a:rPr>
              <a:t>•  Zero downtime with readiness probes</a:t>
            </a:r>
          </a:p>
          <a:p>
            <a:pPr>
              <a:spcAft>
                <a:spcPts val="900"/>
              </a:spcAft>
            </a:pPr>
            <a:r>
              <a:rPr sz="1400" b="0">
                <a:solidFill>
                  <a:srgbClr val="161B26"/>
                </a:solidFill>
                <a:latin typeface="Arial"/>
              </a:rPr>
              <a:t>•  Old and new run side by side briefly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Recreate &amp; Blue/Green</a:t>
            </a:r>
          </a:p>
        </p:txBody>
      </p:sp>
      <p:sp>
        <p:nvSpPr>
          <p:cNvPr id="14" name="TextBox 13"/>
          <p:cNvSpPr txBox="1"/>
          <p:nvPr/>
        </p:nvSpPr>
        <p:spPr>
          <a:xfrm>
            <a:off x="480060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Recreate: stop all, then start new</a:t>
            </a:r>
          </a:p>
          <a:p>
            <a:pPr>
              <a:spcAft>
                <a:spcPts val="900"/>
              </a:spcAft>
            </a:pPr>
            <a:r>
              <a:rPr sz="1400" b="0">
                <a:solidFill>
                  <a:srgbClr val="161B26"/>
                </a:solidFill>
                <a:latin typeface="Arial"/>
              </a:rPr>
              <a:t>•  Causes downtime — but no version overlap</a:t>
            </a:r>
          </a:p>
          <a:p>
            <a:pPr>
              <a:spcAft>
                <a:spcPts val="900"/>
              </a:spcAft>
            </a:pPr>
            <a:r>
              <a:rPr sz="1400" b="0">
                <a:solidFill>
                  <a:srgbClr val="161B26"/>
                </a:solidFill>
                <a:latin typeface="Arial"/>
              </a:rPr>
              <a:t>•  Blue/green: deploy idle, then switch</a:t>
            </a:r>
          </a:p>
          <a:p>
            <a:pPr>
              <a:spcAft>
                <a:spcPts val="900"/>
              </a:spcAft>
            </a:pPr>
            <a:r>
              <a:rPr sz="1400" b="0">
                <a:solidFill>
                  <a:srgbClr val="161B26"/>
                </a:solidFill>
                <a:latin typeface="Arial"/>
              </a:rPr>
              <a:t>•  Switch is a Service selector change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Canary</a:t>
            </a:r>
          </a:p>
        </p:txBody>
      </p:sp>
      <p:sp>
        <p:nvSpPr>
          <p:cNvPr id="18" name="TextBox 17"/>
          <p:cNvSpPr txBox="1"/>
          <p:nvPr/>
        </p:nvSpPr>
        <p:spPr>
          <a:xfrm>
            <a:off x="859536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Small percentage to the new version</a:t>
            </a:r>
          </a:p>
          <a:p>
            <a:pPr>
              <a:spcAft>
                <a:spcPts val="900"/>
              </a:spcAft>
            </a:pPr>
            <a:r>
              <a:rPr sz="1400" b="0">
                <a:solidFill>
                  <a:srgbClr val="161B26"/>
                </a:solidFill>
                <a:latin typeface="Arial"/>
              </a:rPr>
              <a:t>•  Watch the metrics before committing</a:t>
            </a:r>
          </a:p>
          <a:p>
            <a:pPr>
              <a:spcAft>
                <a:spcPts val="900"/>
              </a:spcAft>
            </a:pPr>
            <a:r>
              <a:rPr sz="1400" b="0">
                <a:solidFill>
                  <a:srgbClr val="161B26"/>
                </a:solidFill>
                <a:latin typeface="Arial"/>
              </a:rPr>
              <a:t>•  Promote or roll back on evidence</a:t>
            </a:r>
          </a:p>
          <a:p>
            <a:pPr>
              <a:spcAft>
                <a:spcPts val="900"/>
              </a:spcAft>
            </a:pPr>
            <a:r>
              <a:rPr sz="1400" b="0">
                <a:solidFill>
                  <a:srgbClr val="161B26"/>
                </a:solidFill>
                <a:latin typeface="Arial"/>
              </a:rPr>
              <a:t>•  Lowest blast radius of the four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Kubernetes Fundamentals and Architecture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Kubernetes Resources · Architecture · The API · Containers · Scheduling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advClick="1">
    <p:push dir="l"/>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KCNA EXAM WEIGHTING 46%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Kubernetes Fundamentals and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Kubernetes is a declarative system: you submit the desired state as an object, and controllers work continuously to make the actual state match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control plane (kube-apiserver, etcd, kube-scheduler, kube-controller-manager) decides what should run; the worker nodes (kubelet, kube-proxy, container runtime) actually run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kube-apiserver is the single front door — every component, including kubectl, talks only to the API server, never directly to etcd or to each other.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etcd is the only stateful component: a consistent, highly available key-value store holding the entire cluster state. Losing etcd means losing the cluster.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Pod is the smallest deployable unit — one or more containers sharing a network namespace, an IP address and storage volumes.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KCNA EXAM WEIGHTING 46%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Key Concepts — Kubernetes Fundamentals and Architecture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Workload resources build on Pods: a ReplicaSet keeps N replicas alive, a Deployment manages ReplicaSets to give rolling updates and rollback.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DaemonSets run one Pod per node (agents), StatefulSets give stable identity and storage (databases), Jobs and CronJobs run work to completion.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Namespaces partition a cluster logically; labels and selectors are how every controller and Service finds the objects it manages.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scheduler places a Pod on a node by filtering (which nodes *can* run it) then scoring (which node is *best*), honouring resource requests, taints, tolerations and affinity.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Resource requests drive scheduling and limits drive enforcement — a container exceeding its memory limit is OOM-killed; exceeding its CPU limit is throttled.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Hands-On Labs — Kubernetes Fundamentals and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Bootstrap a Kubernetes Cluster and Explore the Architecture</a:t>
            </a:r>
          </a:p>
          <a:p>
            <a:pPr>
              <a:spcAft>
                <a:spcPts val="900"/>
              </a:spcAft>
            </a:pPr>
            <a:r>
              <a:rPr sz="1400" b="0">
                <a:solidFill>
                  <a:srgbClr val="161B26"/>
                </a:solidFill>
                <a:latin typeface="Arial"/>
              </a:rPr>
              <a:t>•  Work with the Kubernetes API and kubectl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a:t>
            </a:r>
          </a:p>
        </p:txBody>
      </p:sp>
      <p:sp>
        <p:nvSpPr>
          <p:cNvPr id="14" name="TextBox 13"/>
          <p:cNvSpPr txBox="1"/>
          <p:nvPr/>
        </p:nvSpPr>
        <p:spPr>
          <a:xfrm>
            <a:off x="480060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Deploy and Manage Pods, ReplicaSets and Deployments</a:t>
            </a:r>
          </a:p>
          <a:p>
            <a:pPr>
              <a:spcAft>
                <a:spcPts val="900"/>
              </a:spcAft>
            </a:pPr>
            <a:r>
              <a:rPr sz="1400" b="0">
                <a:solidFill>
                  <a:srgbClr val="161B26"/>
                </a:solidFill>
                <a:latin typeface="Arial"/>
              </a:rPr>
              <a:t>•  Control Pod Scheduling with Requests, Taints and Affinity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Bootstrap a Kubernetes Cluster and Explore the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Explain the Kubernetes control-plane and node components and verify each one in a running cluster.</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learner starts a local Kubernetes cluster with minikube, inspects every control-plane and node component, and maps what they observe onto the reference architecture diagram used in the proof of concept.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running single-node Kubernetes cluster plus an annotated architecture inventory of its components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minikube, kubectl, kube-apiserver, etcd, kube-scheduler, kube-controller-manager, kubelet, kube-proxy</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kubectl get nodes shows STATUS=Ready, kubectl get pods -n kube-system shows kube-apiserver, etcd, kube-scheduler, kube-controller-manager and kube-proxy all Running, and your architecture-inventory.md names the role of each.</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labs/lab-01-… · MANIFESTS &amp; MOCK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 — Files in Your Lab Folder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883664"/>
          </a:xfrm>
          <a:prstGeom prst="rect">
            <a:avLst/>
          </a:prstGeom>
          <a:noFill/>
        </p:spPr>
        <p:txBody>
          <a:bodyPr wrap="square" anchor="ctr">
            <a:spAutoFit/>
          </a:bodyPr>
          <a:lstStyle/>
          <a:p>
            <a:pPr algn="l">
              <a:spcAft>
                <a:spcPts val="300"/>
              </a:spcAft>
            </a:pPr>
            <a:r>
              <a:rPr sz="1600" b="1">
                <a:solidFill>
                  <a:srgbClr val="161B26"/>
                </a:solidFill>
                <a:latin typeface="Arial"/>
              </a:rPr>
              <a:t>architecture-inventory.md</a:t>
            </a:r>
          </a:p>
          <a:p>
            <a:pPr algn="l">
              <a:spcAft>
                <a:spcPts val="300"/>
              </a:spcAft>
            </a:pPr>
            <a:r>
              <a:rPr sz="1200" b="0">
                <a:solidFill>
                  <a:srgbClr val="5B6372"/>
                </a:solidFill>
                <a:latin typeface="Arial"/>
              </a:rPr>
              <a:t>Worksheet: record each component, where it runs and what it does.</a:t>
            </a:r>
          </a:p>
        </p:txBody>
      </p:sp>
      <p:sp>
        <p:nvSpPr>
          <p:cNvPr id="12" name="Rectangle 11"/>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4215384"/>
            <a:ext cx="9427464" cy="1883664"/>
          </a:xfrm>
          <a:prstGeom prst="rect">
            <a:avLst/>
          </a:prstGeom>
          <a:noFill/>
        </p:spPr>
        <p:txBody>
          <a:bodyPr wrap="square" anchor="ctr">
            <a:spAutoFit/>
          </a:bodyPr>
          <a:lstStyle/>
          <a:p>
            <a:pPr algn="l">
              <a:spcAft>
                <a:spcPts val="300"/>
              </a:spcAft>
            </a:pPr>
            <a:r>
              <a:rPr sz="1600" b="1">
                <a:solidFill>
                  <a:srgbClr val="161B26"/>
                </a:solidFill>
                <a:latin typeface="Arial"/>
              </a:rPr>
              <a:t>cluster-info.sh</a:t>
            </a:r>
          </a:p>
          <a:p>
            <a:pPr algn="l">
              <a:spcAft>
                <a:spcPts val="300"/>
              </a:spcAft>
            </a:pPr>
            <a:r>
              <a:rPr sz="1200" b="0">
                <a:solidFill>
                  <a:srgbClr val="5B6372"/>
                </a:solidFill>
                <a:latin typeface="Arial"/>
              </a:rPr>
              <a:t>Helper script that dumps the component inventory in one pass.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49808"/>
          </a:xfrm>
          <a:prstGeom prst="rect">
            <a:avLst/>
          </a:prstGeom>
          <a:noFill/>
        </p:spPr>
        <p:txBody>
          <a:bodyPr wrap="square" anchor="ctr">
            <a:spAutoFit/>
          </a:bodyPr>
          <a:lstStyle/>
          <a:p>
            <a:pPr algn="ctr">
              <a:spcAft>
                <a:spcPts val="0"/>
              </a:spcAft>
            </a:pPr>
            <a:r>
              <a:rPr sz="1200" b="1">
                <a:solidFill>
                  <a:srgbClr val="161B26"/>
                </a:solidFill>
                <a:latin typeface="Arial"/>
              </a:rPr>
              <a:t>Confirm the tooling is installed</a:t>
            </a:r>
          </a:p>
        </p:txBody>
      </p:sp>
      <p:sp>
        <p:nvSpPr>
          <p:cNvPr id="12" name="TextBox 11"/>
          <p:cNvSpPr txBox="1"/>
          <p:nvPr/>
        </p:nvSpPr>
        <p:spPr>
          <a:xfrm>
            <a:off x="850392"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Start a single-node cluster with a known…</a:t>
            </a:r>
          </a:p>
        </p:txBody>
      </p:sp>
      <p:sp>
        <p:nvSpPr>
          <p:cNvPr id="19" name="TextBox 18"/>
          <p:cNvSpPr txBox="1"/>
          <p:nvPr/>
        </p:nvSpPr>
        <p:spPr>
          <a:xfrm>
            <a:off x="3054096"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minikube …</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Verify the node is Ready</a:t>
            </a:r>
          </a:p>
        </p:txBody>
      </p:sp>
      <p:sp>
        <p:nvSpPr>
          <p:cNvPr id="26" name="TextBox 25"/>
          <p:cNvSpPr txBox="1"/>
          <p:nvPr/>
        </p:nvSpPr>
        <p:spPr>
          <a:xfrm>
            <a:off x="5257800"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List the control-plane components — they…</a:t>
            </a:r>
          </a:p>
        </p:txBody>
      </p:sp>
      <p:sp>
        <p:nvSpPr>
          <p:cNvPr id="33" name="TextBox 32"/>
          <p:cNvSpPr txBox="1"/>
          <p:nvPr/>
        </p:nvSpPr>
        <p:spPr>
          <a:xfrm>
            <a:off x="7461504"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Confirm the API server is the single front…</a:t>
            </a:r>
          </a:p>
        </p:txBody>
      </p:sp>
      <p:sp>
        <p:nvSpPr>
          <p:cNvPr id="40" name="TextBox 39"/>
          <p:cNvSpPr txBox="1"/>
          <p:nvPr/>
        </p:nvSpPr>
        <p:spPr>
          <a:xfrm>
            <a:off x="9665208"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Explain the Kubernetes control-plane and node components and verify each one in a running cluster.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Bootstrap a Kubernetes Cluster and Explore the Architecture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Confirm the tooling is installed and check the client version</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version --client &amp;&amp; minikube version</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Start a single-node cluster with a known Kubernetes version</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minikube start --nodes=1 --cpus=2 --memory=4096 --kubernetes-version=v1.31.0</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Verify the node is Ready and inspect its capacity and conditions</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nodes -o wide &amp;&amp; kubectl describe node minikube | head -40</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List the control-plane components — they run as static Pods in kube-system</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pods -n kube-system -o wide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Bootstrap a Kubernetes Cluster and Explore the Architecture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Confirm the API server is the single front door and check cluster health</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cluster-info &amp;&amp; kubectl get --raw='/readyz?verbose' | head -20</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Inspect the etcd static Pod manifest to see how the datastore is configured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-n kube-system describe pod -l component=etcd | head -30</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Watch the scheduler and controller-manager leader election in the logs</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-n kube-system logs -l component=kube-scheduler --tail=20</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Inspect kubelet on the node — the agent that actually starts containers</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minikube ssh -- 'sudo systemctl status kubelet --no-pager | head -15'</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Bootstrap a Kubernetes Cluster and Explore the Architecture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List every API resource the cluster serves, grouped by API group</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api-resources --sort-by=name | head -40</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Complete architecture-inventory.md, recording each component and its role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bash cluster-info.sh &gt; my-cluster-inventory.txt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Bootstrap a Kubernetes Cluster and Explore the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kubectl get nodes shows STATUS=Ready, kubectl get pods -n kube-system shows kube-apiserver, etcd, kube-scheduler, kube-controller-manager and kube-proxy all Running, and your architecture-inventory.md names the role of each.</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minikube start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Give Docker more resources, then: minikube delete &amp;&amp; minikube start --cpus=2 --memory=4096.</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Node stays NotReady</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CNI is still starting. Wait 60s, then kubectl get pods -n kube-system.</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kubectl cannot connect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context is wrong: kubectl config use-context minikube.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 with the Kubernetes API and kubectl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Use the declarative Kubernetes API to create, inspect and delete objects, and read the API directly.</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learner drives the Kubernetes API through kubectl and through raw HTTP, comparing imperative and declarative object management, and reads the anatomy of an API object — apiVersion, kind, metadata, spec and status.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namespace and Pod created declaratively, plus a raw API call transcript showing the same objects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kubectl, kube-apiserver, kubectl proxy, YAML manifests, API groups and versions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curl against /api/v1/namespaces/kcna-lab/pods/nginx returns the same object that kubectl get pod prints, confirming kubectl is only a client of the API server.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labs/lab-02-… · MANIFESTS &amp; MOCK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2 — Files in Your Lab Folder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883664"/>
          </a:xfrm>
          <a:prstGeom prst="rect">
            <a:avLst/>
          </a:prstGeom>
          <a:noFill/>
        </p:spPr>
        <p:txBody>
          <a:bodyPr wrap="square" anchor="ctr">
            <a:spAutoFit/>
          </a:bodyPr>
          <a:lstStyle/>
          <a:p>
            <a:pPr algn="l">
              <a:spcAft>
                <a:spcPts val="300"/>
              </a:spcAft>
            </a:pPr>
            <a:r>
              <a:rPr sz="1600" b="1">
                <a:solidFill>
                  <a:srgbClr val="161B26"/>
                </a:solidFill>
                <a:latin typeface="Arial"/>
              </a:rPr>
              <a:t>namespace.yaml</a:t>
            </a:r>
          </a:p>
          <a:p>
            <a:pPr algn="l">
              <a:spcAft>
                <a:spcPts val="300"/>
              </a:spcAft>
            </a:pPr>
            <a:r>
              <a:rPr sz="1200" b="0">
                <a:solidFill>
                  <a:srgbClr val="5B6372"/>
                </a:solidFill>
                <a:latin typeface="Arial"/>
              </a:rPr>
              <a:t>The kcna-lab namespace used by every later lab.</a:t>
            </a:r>
          </a:p>
        </p:txBody>
      </p:sp>
      <p:sp>
        <p:nvSpPr>
          <p:cNvPr id="12" name="Rectangle 11"/>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4215384"/>
            <a:ext cx="9427464" cy="1883664"/>
          </a:xfrm>
          <a:prstGeom prst="rect">
            <a:avLst/>
          </a:prstGeom>
          <a:noFill/>
        </p:spPr>
        <p:txBody>
          <a:bodyPr wrap="square" anchor="ctr">
            <a:spAutoFit/>
          </a:bodyPr>
          <a:lstStyle/>
          <a:p>
            <a:pPr algn="l">
              <a:spcAft>
                <a:spcPts val="300"/>
              </a:spcAft>
            </a:pPr>
            <a:r>
              <a:rPr sz="1600" b="1">
                <a:solidFill>
                  <a:srgbClr val="161B26"/>
                </a:solidFill>
                <a:latin typeface="Arial"/>
              </a:rPr>
              <a:t>pod-nginx.yaml</a:t>
            </a:r>
          </a:p>
          <a:p>
            <a:pPr algn="l">
              <a:spcAft>
                <a:spcPts val="300"/>
              </a:spcAft>
            </a:pPr>
            <a:r>
              <a:rPr sz="1200" b="0">
                <a:solidFill>
                  <a:srgbClr val="5B6372"/>
                </a:solidFill>
                <a:latin typeface="Arial"/>
              </a:rPr>
              <a:t>A minimal Pod manifest showing apiVersion/kind/metadata/spec.</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Read the anatomy of an object with explain</a:t>
            </a:r>
          </a:p>
        </p:txBody>
      </p:sp>
      <p:sp>
        <p:nvSpPr>
          <p:cNvPr id="12" name="TextBox 11"/>
          <p:cNvSpPr txBox="1"/>
          <p:nvPr/>
        </p:nvSpPr>
        <p:spPr>
          <a:xfrm>
            <a:off x="850392"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Create the working namespace declaratively…</a:t>
            </a:r>
          </a:p>
        </p:txBody>
      </p:sp>
      <p:sp>
        <p:nvSpPr>
          <p:cNvPr id="19" name="TextBox 18"/>
          <p:cNvSpPr txBox="1"/>
          <p:nvPr/>
        </p:nvSpPr>
        <p:spPr>
          <a:xfrm>
            <a:off x="3054096"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Create a Pod declaratively</a:t>
            </a:r>
          </a:p>
        </p:txBody>
      </p:sp>
      <p:sp>
        <p:nvSpPr>
          <p:cNvPr id="26" name="TextBox 25"/>
          <p:cNvSpPr txBox="1"/>
          <p:nvPr/>
        </p:nvSpPr>
        <p:spPr>
          <a:xfrm>
            <a:off x="5257800"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Read back the live object</a:t>
            </a:r>
          </a:p>
        </p:txBody>
      </p:sp>
      <p:sp>
        <p:nvSpPr>
          <p:cNvPr id="33" name="TextBox 32"/>
          <p:cNvSpPr txBox="1"/>
          <p:nvPr/>
        </p:nvSpPr>
        <p:spPr>
          <a:xfrm>
            <a:off x="7461504"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49808"/>
          </a:xfrm>
          <a:prstGeom prst="rect">
            <a:avLst/>
          </a:prstGeom>
          <a:noFill/>
        </p:spPr>
        <p:txBody>
          <a:bodyPr wrap="square" anchor="ctr">
            <a:spAutoFit/>
          </a:bodyPr>
          <a:lstStyle/>
          <a:p>
            <a:pPr algn="ctr">
              <a:spcAft>
                <a:spcPts val="0"/>
              </a:spcAft>
            </a:pPr>
            <a:r>
              <a:rPr sz="1200" b="1">
                <a:solidFill>
                  <a:srgbClr val="161B26"/>
                </a:solidFill>
                <a:latin typeface="Arial"/>
              </a:rPr>
              <a:t>Compare the imperative equivalent</a:t>
            </a:r>
          </a:p>
        </p:txBody>
      </p:sp>
      <p:sp>
        <p:nvSpPr>
          <p:cNvPr id="40" name="TextBox 39"/>
          <p:cNvSpPr txBox="1"/>
          <p:nvPr/>
        </p:nvSpPr>
        <p:spPr>
          <a:xfrm>
            <a:off x="9665208"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Use the declarative Kubernetes API to create, inspect and delete objects, and read the API directly.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 with the Kubernetes API and kubectl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Read the anatomy of an object with explain, field by field</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explain pod.spec.containers --recursive | head -30</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Create the working namespace declaratively from the manifest</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namespace.yaml</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Create a Pod declaratively and watch it move through its phases</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pod-nginx.yaml &amp;&amp; kubectl get pod -n kcna-lab -w --timeout=60s</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Read back the live object, including the status the controllers wrote</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pod nginx -n kcna-lab -o yaml | head -40</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 with the Kubernetes API and kubectl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Compare the imperative equivalent, using --dry-run to see the generated object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run temp --image=nginx:1.27 --dry-run=client -o yaml</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Open a local proxy to the API server and call the REST endpoint directly</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proxy --port=8001 &amp;</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Query the same Pod over raw HTTP to prove kubectl is only an API client</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curl -s http://127.0.0.1:8001/api/v1/namespaces/kcna-lab/pods/nginx | head -30</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Inspect the API groups and versions the server exposes</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curl -s http://127.0.0.1:8001/apis | head -30</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 with the Kubernetes API and kubectl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Use a label selector and JSONPath to extract just the fields you need</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pods -n kcna-lab -l app=nginx -o jsonpath='{.items[*].status.podIP}'</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Clean up the proxy process when you are finished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kill %1</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 with the Kubernetes API and kubectl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curl against /api/v1/namespaces/kcna-lab/pods/nginx returns the same object that kubectl get pod prints, confirming kubectl is only a client of the API server.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Namespace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it first: kubectl apply -f namespace.yaml.</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curl to the proxy refused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kubectl proxy is not running. Start it and keep that shell open.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explain returns nothing</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resource path spelling: kubectl explain pod.spec.containers.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Deploy and Manage Pods, ReplicaSets and Deployments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Build the core workload resources and explain how a Deployment manages ReplicaSets which manage Pods.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learner deploys the sample store-front application, scales it, breaks it deliberately to observe self-healing, then performs a rolling update and a rollback to see the Deployment/ReplicaSet/Pod ownership chain in action.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3-replica Deployment that survives Pod deletion, plus a completed rolling update and rollback</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Deployment, ReplicaSet, Pod, kubectl scale, kubectl rollout, labels and selectors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After deleting a Pod the replica count returns to the desired number within seconds; after the rollback, kubectl describe deployment shows the original nginx:1.27 image and two ReplicaSets exist with only the original scaled up.</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labs/lab-03-… · MANIFESTS &amp; MOCK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3 — Files in Your Lab Folder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883664"/>
          </a:xfrm>
          <a:prstGeom prst="rect">
            <a:avLst/>
          </a:prstGeom>
          <a:noFill/>
        </p:spPr>
        <p:txBody>
          <a:bodyPr wrap="square" anchor="ctr">
            <a:spAutoFit/>
          </a:bodyPr>
          <a:lstStyle/>
          <a:p>
            <a:pPr algn="l">
              <a:spcAft>
                <a:spcPts val="300"/>
              </a:spcAft>
            </a:pPr>
            <a:r>
              <a:rPr sz="1600" b="1">
                <a:solidFill>
                  <a:srgbClr val="161B26"/>
                </a:solidFill>
                <a:latin typeface="Arial"/>
              </a:rPr>
              <a:t>deployment-storefront.yaml</a:t>
            </a:r>
          </a:p>
          <a:p>
            <a:pPr algn="l">
              <a:spcAft>
                <a:spcPts val="300"/>
              </a:spcAft>
            </a:pPr>
            <a:r>
              <a:rPr sz="1200" b="0">
                <a:solidFill>
                  <a:srgbClr val="5B6372"/>
                </a:solidFill>
                <a:latin typeface="Arial"/>
              </a:rPr>
              <a:t>3-replica Deployment of the sample store-front app.</a:t>
            </a:r>
          </a:p>
        </p:txBody>
      </p:sp>
      <p:sp>
        <p:nvSpPr>
          <p:cNvPr id="12" name="Rectangle 11"/>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4215384"/>
            <a:ext cx="9427464" cy="1883664"/>
          </a:xfrm>
          <a:prstGeom prst="rect">
            <a:avLst/>
          </a:prstGeom>
          <a:noFill/>
        </p:spPr>
        <p:txBody>
          <a:bodyPr wrap="square" anchor="ctr">
            <a:spAutoFit/>
          </a:bodyPr>
          <a:lstStyle/>
          <a:p>
            <a:pPr algn="l">
              <a:spcAft>
                <a:spcPts val="300"/>
              </a:spcAft>
            </a:pPr>
            <a:r>
              <a:rPr sz="1600" b="1">
                <a:solidFill>
                  <a:srgbClr val="161B26"/>
                </a:solidFill>
                <a:latin typeface="Arial"/>
              </a:rPr>
              <a:t>configmap-catalog.yaml</a:t>
            </a:r>
          </a:p>
          <a:p>
            <a:pPr algn="l">
              <a:spcAft>
                <a:spcPts val="300"/>
              </a:spcAft>
            </a:pPr>
            <a:r>
              <a:rPr sz="1200" b="0">
                <a:solidFill>
                  <a:srgbClr val="5B6372"/>
                </a:solidFill>
                <a:latin typeface="Arial"/>
              </a:rPr>
              <a:t>Mock product catalogue (10 products) served by the app.</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49808"/>
          </a:xfrm>
          <a:prstGeom prst="rect">
            <a:avLst/>
          </a:prstGeom>
          <a:noFill/>
        </p:spPr>
        <p:txBody>
          <a:bodyPr wrap="square" anchor="ctr">
            <a:spAutoFit/>
          </a:bodyPr>
          <a:lstStyle/>
          <a:p>
            <a:pPr algn="ctr">
              <a:spcAft>
                <a:spcPts val="0"/>
              </a:spcAft>
            </a:pPr>
            <a:r>
              <a:rPr sz="1200" b="1">
                <a:solidFill>
                  <a:srgbClr val="161B26"/>
                </a:solidFill>
                <a:latin typeface="Arial"/>
              </a:rPr>
              <a:t>Load the mock product catalogue the…</a:t>
            </a:r>
          </a:p>
        </p:txBody>
      </p:sp>
      <p:sp>
        <p:nvSpPr>
          <p:cNvPr id="12" name="TextBox 11"/>
          <p:cNvSpPr txBox="1"/>
          <p:nvPr/>
        </p:nvSpPr>
        <p:spPr>
          <a:xfrm>
            <a:off x="850392"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Deploy the store-front application with…</a:t>
            </a:r>
          </a:p>
        </p:txBody>
      </p:sp>
      <p:sp>
        <p:nvSpPr>
          <p:cNvPr id="19" name="TextBox 18"/>
          <p:cNvSpPr txBox="1"/>
          <p:nvPr/>
        </p:nvSpPr>
        <p:spPr>
          <a:xfrm>
            <a:off x="3054096"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Observe the ownership chain: Deployment…</a:t>
            </a:r>
          </a:p>
        </p:txBody>
      </p:sp>
      <p:sp>
        <p:nvSpPr>
          <p:cNvPr id="26" name="TextBox 25"/>
          <p:cNvSpPr txBox="1"/>
          <p:nvPr/>
        </p:nvSpPr>
        <p:spPr>
          <a:xfrm>
            <a:off x="5257800"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Confirm the ownerReferences that link a Pod…</a:t>
            </a:r>
          </a:p>
        </p:txBody>
      </p:sp>
      <p:sp>
        <p:nvSpPr>
          <p:cNvPr id="33" name="TextBox 32"/>
          <p:cNvSpPr txBox="1"/>
          <p:nvPr/>
        </p:nvSpPr>
        <p:spPr>
          <a:xfrm>
            <a:off x="7461504"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Delete a Pod</a:t>
            </a:r>
          </a:p>
        </p:txBody>
      </p:sp>
      <p:sp>
        <p:nvSpPr>
          <p:cNvPr id="40" name="TextBox 39"/>
          <p:cNvSpPr txBox="1"/>
          <p:nvPr/>
        </p:nvSpPr>
        <p:spPr>
          <a:xfrm>
            <a:off x="9665208"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Build the core workload resources and explain how a Deployment manages ReplicaSets which manage Pods.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Deploy and Manage Pods, ReplicaSets and Deployments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Load the mock product catalogue the application will serve</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configmap-catalog.yaml</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Deploy the store-front application with three replicas</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deployment-storefront.yaml</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Observe the ownership chain: Deployment owns ReplicaSet owns Pods</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deploy,rs,pods -n kcna-lab -l app=storefront</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Confirm the ownerReferences that link a Pod back to its ReplicaSet</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pods -n kcna-lab -l app=storefront -o jsonpath='{.items[0].metadata.ownerReferenc...</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Deploy and Manage Pods, ReplicaSets and Deployments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Delete a Pod and watch the ReplicaSet controller replace it (self-healing)</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delete pod -n kcna-lab -l app=storefront --field-selector=status.phase=Running --wait...</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Scale the Deployment up and confirm the new replica count</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scale deployment storefront -n kcna-lab --replicas=5</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Perform a rolling update to a new image version</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set image deployment/storefront storefront=nginx:1.27-alpine -n kcna-lab</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Watch the rollout progress and see a second ReplicaSet appear</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rollout status deployment/storefront -n kcna-lab &amp;&amp; kubectl get rs -n kcna-lab</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Deploy and Manage Pods, ReplicaSets and Deployments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Review the revision history the Deployment keeps for you</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rollout history deployment/storefront -n kcna-lab</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Roll back to the previous revision and confirm the image reverted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rollout undo deployment/storefront -n kcna-lab</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Deploy and Manage Pods, ReplicaSets and Deployments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After deleting a Pod the replica count returns to the desired number within seconds; after the rollback, kubectl describe deployment shows the original nginx:1.27 image and two ReplicaSets exist with only the original scaled up.</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Pods never become Ready</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 the events: kubectl describe pod -n kcna-lab -l app=storefront.</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Deleted Pod not replaced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deleted the Deployment, not the Pod. Re-apply the manifest.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Rollback changes nothing</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Only one revision exists. Check kubectl rollout history first.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Control Pod Scheduling with Requests, Taints and Affinity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Influence where the scheduler places a Pod using resource requests, node selectors, taints, tolerations and affinity.</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learner works through the scheduler's filter-and-score decision: setting resource requests that make a Pod unschedulable, labelling nodes, applying taints and tolerations, and expressing node and Pod affinity rules.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set of Pods demonstrating successful placement, a deliberate Pending Pod, and a toleration that restores scheduling</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kube-scheduler, resource requests and limits, nodeSelector, taints and tolerations, node affinity, pod anti-affinity</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unschedulable-demo stays Pending with a FailedScheduling event naming Insufficient memory, while toleration-demo schedules successfully onto the tainted node — proving the filter stage of the scheduler.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labs/lab-04-… · MANIFESTS &amp; MOCK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4 — Files in Your Lab Folder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pod-resources.yaml</a:t>
            </a:r>
          </a:p>
          <a:p>
            <a:pPr algn="l">
              <a:spcAft>
                <a:spcPts val="300"/>
              </a:spcAft>
            </a:pPr>
            <a:r>
              <a:rPr sz="1200" b="0">
                <a:solidFill>
                  <a:srgbClr val="5B6372"/>
                </a:solidFill>
                <a:latin typeface="Arial"/>
              </a:rPr>
              <a:t>Pod with explicit CPU/memory requests and limits.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pod-unschedulable.yaml</a:t>
            </a:r>
          </a:p>
          <a:p>
            <a:pPr algn="l">
              <a:spcAft>
                <a:spcPts val="300"/>
              </a:spcAft>
            </a:pPr>
            <a:r>
              <a:rPr sz="1200" b="0">
                <a:solidFill>
                  <a:srgbClr val="5B6372"/>
                </a:solidFill>
                <a:latin typeface="Arial"/>
              </a:rPr>
              <a:t>Pod requesting more memory than any node has — stays Pending.</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pod-toleration.yaml</a:t>
            </a:r>
          </a:p>
          <a:p>
            <a:pPr algn="l">
              <a:spcAft>
                <a:spcPts val="300"/>
              </a:spcAft>
            </a:pPr>
            <a:r>
              <a:rPr sz="1200" b="0">
                <a:solidFill>
                  <a:srgbClr val="5B6372"/>
                </a:solidFill>
                <a:latin typeface="Arial"/>
              </a:rPr>
              <a:t>Pod carrying the toleration for the tainted node.</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deployment-antiaffinity.yaml</a:t>
            </a:r>
          </a:p>
          <a:p>
            <a:pPr algn="l">
              <a:spcAft>
                <a:spcPts val="300"/>
              </a:spcAft>
            </a:pPr>
            <a:r>
              <a:rPr sz="1200" b="0">
                <a:solidFill>
                  <a:srgbClr val="5B6372"/>
                </a:solidFill>
                <a:latin typeface="Arial"/>
              </a:rPr>
              <a:t>Deployment spreading replicas with pod anti-affinity.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Inspect what capacity the node advertises</a:t>
            </a:r>
          </a:p>
        </p:txBody>
      </p:sp>
      <p:sp>
        <p:nvSpPr>
          <p:cNvPr id="12" name="TextBox 11"/>
          <p:cNvSpPr txBox="1"/>
          <p:nvPr/>
        </p:nvSpPr>
        <p:spPr>
          <a:xfrm>
            <a:off x="850392"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49808"/>
          </a:xfrm>
          <a:prstGeom prst="rect">
            <a:avLst/>
          </a:prstGeom>
          <a:noFill/>
        </p:spPr>
        <p:txBody>
          <a:bodyPr wrap="square" anchor="ctr">
            <a:spAutoFit/>
          </a:bodyPr>
          <a:lstStyle/>
          <a:p>
            <a:pPr algn="ctr">
              <a:spcAft>
                <a:spcPts val="0"/>
              </a:spcAft>
            </a:pPr>
            <a:r>
              <a:rPr sz="1200" b="1">
                <a:solidFill>
                  <a:srgbClr val="161B26"/>
                </a:solidFill>
                <a:latin typeface="Arial"/>
              </a:rPr>
              <a:t>Deploy a Pod with explicit requests</a:t>
            </a:r>
          </a:p>
        </p:txBody>
      </p:sp>
      <p:sp>
        <p:nvSpPr>
          <p:cNvPr id="19" name="TextBox 18"/>
          <p:cNvSpPr txBox="1"/>
          <p:nvPr/>
        </p:nvSpPr>
        <p:spPr>
          <a:xfrm>
            <a:off x="3054096"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Deploy a Pod that requests more memory than…</a:t>
            </a:r>
          </a:p>
        </p:txBody>
      </p:sp>
      <p:sp>
        <p:nvSpPr>
          <p:cNvPr id="26" name="TextBox 25"/>
          <p:cNvSpPr txBox="1"/>
          <p:nvPr/>
        </p:nvSpPr>
        <p:spPr>
          <a:xfrm>
            <a:off x="5257800"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Read the scheduler's own explanation of why…</a:t>
            </a:r>
          </a:p>
        </p:txBody>
      </p:sp>
      <p:sp>
        <p:nvSpPr>
          <p:cNvPr id="33" name="TextBox 32"/>
          <p:cNvSpPr txBox="1"/>
          <p:nvPr/>
        </p:nvSpPr>
        <p:spPr>
          <a:xfrm>
            <a:off x="7461504"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Label the node so a Pod can target it with…</a:t>
            </a:r>
          </a:p>
        </p:txBody>
      </p:sp>
      <p:sp>
        <p:nvSpPr>
          <p:cNvPr id="40" name="TextBox 39"/>
          <p:cNvSpPr txBox="1"/>
          <p:nvPr/>
        </p:nvSpPr>
        <p:spPr>
          <a:xfrm>
            <a:off x="9665208"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Influence where the scheduler places a Pod using resource requests, node selectors, taints, tolerations and affinity.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Control Pod Scheduling with Requests, Taints and Affinity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Inspect what capacity the node advertises and what is already requested</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describe node minikube | grep -A8 'Allocated resources'</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Deploy a Pod with explicit requests and limits and confirm placement</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pod-resources.yaml &amp;&amp; kubectl get pod resources-demo -n kcna-lab -o wide</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Deploy a Pod that requests more memory than the node has</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pod-unschedulable.yaml</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Read the scheduler's own explanation of why the Pod is Pending</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describe pod unschedulable-demo -n kcna-lab | grep -A5 Events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Control Pod Scheduling with Requests, Taints and Affinity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Label the node so a Pod can target it with a nodeSelector</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label node minikube disktype=ssd --overwrite</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Taint the node so that only tolerating Pods may be scheduled onto it</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taint node minikube workload=restricted:NoSchedule --overwrite</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Deploy a Pod carrying the matching toleration and confirm it schedules</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pod-toleration.yaml &amp;&amp; kubectl get pod toleration-demo -n kcna-lab -o wide</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Deploy a Deployment using pod anti-affinity to spread replicas apart</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deployment-antiaffinity.yaml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Control Pod Scheduling with Requests, Taints and Affinity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Observe how anti-affinity affects placement on a single-node cluster</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pods -n kcna-lab -l app=spread -o wide</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Remove the taint to restore normal scheduling before the next lab</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taint node minikube workload=restricted:NoSchedule-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Control Pod Scheduling with Requests, Taints and Affinity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unschedulable-demo stays Pending with a FailedScheduling event naming Insufficient memory, while toleration-demo schedules successfully onto the tainted node — proving the filter stage of the scheduler.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Pod stuck in Pending</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Expected for unschedulable-demo. Read the FailedScheduling event.</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Toleration Pod also Pending</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node label is missing: kubectl label node minikube disktype=ssd.</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Taint will not clear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trailing minus removes it: kubectl taint node minikube workload=restricted:NoSchedule-.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Kubernetes Fundamentals and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Explain the Kubernetes control-plane and node components and verify each one in a running cluster.</a:t>
            </a:r>
          </a:p>
          <a:p>
            <a:pPr>
              <a:spcAft>
                <a:spcPts val="1000"/>
              </a:spcAft>
            </a:pPr>
            <a:r>
              <a:rPr sz="1700" b="0">
                <a:solidFill>
                  <a:srgbClr val="161B26"/>
                </a:solidFill>
                <a:latin typeface="Arial"/>
              </a:rPr>
              <a:t>•  You can now: Use the declarative Kubernetes API to create, inspect and delete objects, and read the API directly.</a:t>
            </a:r>
          </a:p>
          <a:p>
            <a:pPr>
              <a:spcAft>
                <a:spcPts val="1000"/>
              </a:spcAft>
            </a:pPr>
            <a:r>
              <a:rPr sz="1700" b="0">
                <a:solidFill>
                  <a:srgbClr val="161B26"/>
                </a:solidFill>
                <a:latin typeface="Arial"/>
              </a:rPr>
              <a:t>•  You can now: Build the core workload resources and explain how a Deployment manages ReplicaSets which manage Pods.</a:t>
            </a:r>
          </a:p>
          <a:p>
            <a:pPr>
              <a:spcAft>
                <a:spcPts val="1000"/>
              </a:spcAft>
            </a:pPr>
            <a:r>
              <a:rPr sz="1700" b="0">
                <a:solidFill>
                  <a:srgbClr val="161B26"/>
                </a:solidFill>
                <a:latin typeface="Arial"/>
              </a:rPr>
              <a:t>•  You can now: Influence where the scheduler places a Pod using resource requests, node selectors, taints, tolerations and affinity.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Container Orchestration and Kubernetes Operations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Orchestration Fundamentals · Runtime · Security · Networking · Service Mesh · Storage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advClick="1">
    <p:push dir="l"/>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KCNA EXAM WEIGHTING 22%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Container Orchestration and Kubernetes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container is a process isolated by Linux namespaces and constrained by cgroups — it is not a virtual machine and shares the host kernel.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Orchestration adds what a single container runtime cannot: scheduling across many hosts, self-healing, service discovery, scaling and rolling updates.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Container Runtime Interface (CRI) lets Kubernetes run containerd or CRI-O interchangeably; the OCI standard defines the image and runtime formats.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Kubernetes network model requires that every Pod gets its own IP and that all Pods can reach each other without NAT — the CNI plugin implements this.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Service gives a stable virtual IP and DNS name in front of an ephemeral set of Pods: ClusterIP (internal), NodePort, LoadBalancer, and Ingress for HTTP routing.</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KCNA EXAM WEIGHTING 22%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Key Concepts — Container Orchestration and Kubernetes Operations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NetworkPolicies are the Pod-level firewall — by default all traffic is allowed, and a policy switches the selected Pods to default-deny.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Security is layered as the 4C model: Cloud, Cluster, Container, Code. RBAC, ServiceAccounts, Secrets and Pod Security Standards each cover a different layer.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RBAC binds a subject (user, group or ServiceAccount) to a Role (namespaced) or ClusterRole (cluster-wide) through a RoleBinding or ClusterRoleBinding.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service mesh (Istio, Linkerd) adds mTLS, retries, traffic splitting and per-request telemetry through sidecar proxies, without changing application code.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Storage is decoupled: a PersistentVolumeClaim requests storage, a StorageClass provisions a PersistentVolume dynamically, and the CSI driver does the work.</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Hands-On Labs — Container Orchestration and Kubernetes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5–6</a:t>
            </a:r>
          </a:p>
        </p:txBody>
      </p:sp>
      <p:sp>
        <p:nvSpPr>
          <p:cNvPr id="10" name="TextBox 9"/>
          <p:cNvSpPr txBox="1"/>
          <p:nvPr/>
        </p:nvSpPr>
        <p:spPr>
          <a:xfrm>
            <a:off x="100584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Build and Run Containers with Docker and the OCI Standard</a:t>
            </a:r>
          </a:p>
          <a:p>
            <a:pPr>
              <a:spcAft>
                <a:spcPts val="900"/>
              </a:spcAft>
            </a:pPr>
            <a:r>
              <a:rPr sz="1400" b="0">
                <a:solidFill>
                  <a:srgbClr val="161B26"/>
                </a:solidFill>
                <a:latin typeface="Arial"/>
              </a:rPr>
              <a:t>•  Expose Applications with Services and Ingress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7–8</a:t>
            </a:r>
          </a:p>
        </p:txBody>
      </p:sp>
      <p:sp>
        <p:nvSpPr>
          <p:cNvPr id="14" name="TextBox 13"/>
          <p:cNvSpPr txBox="1"/>
          <p:nvPr/>
        </p:nvSpPr>
        <p:spPr>
          <a:xfrm>
            <a:off x="480060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Secure the Cluster with RBAC, Secrets and NetworkPolicy</a:t>
            </a:r>
          </a:p>
          <a:p>
            <a:pPr>
              <a:spcAft>
                <a:spcPts val="900"/>
              </a:spcAft>
            </a:pPr>
            <a:r>
              <a:rPr sz="1400" b="0">
                <a:solidFill>
                  <a:srgbClr val="161B26"/>
                </a:solidFill>
                <a:latin typeface="Arial"/>
              </a:rPr>
              <a:t>•  Persist Data with PersistentVolumes, StatefulSets and Storage Classes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Build and Run Containers with Docker and the OCI Standard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Build an OCI image, run it as a container, and explain the runtime layer beneath Kubernetes.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learner containerises the sample inventory API, inspects the resulting OCI image layers, runs it locally with resource constraints, and then confirms which CRI runtime the Kubernetes cluster is actually using.</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tagged OCI image of the inventory API, running locally and loaded into the cluster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Docker, OCI image spec, containerd, CRI, crictl, image layers and registries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curl http://localhost:8080/inventory returns the 12 mock SKUs, and the node's containerRuntimeVersion reports containerd (or cri-o), confirming Kubernetes runs OCI images through the CRI.</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labs/lab-05-… · MANIFESTS &amp; MOCK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5 — Files in Your Lab Folder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Dockerfile</a:t>
            </a:r>
          </a:p>
          <a:p>
            <a:pPr algn="l">
              <a:spcAft>
                <a:spcPts val="300"/>
              </a:spcAft>
            </a:pPr>
            <a:r>
              <a:rPr sz="1200" b="0">
                <a:solidFill>
                  <a:srgbClr val="5B6372"/>
                </a:solidFill>
                <a:latin typeface="Arial"/>
              </a:rPr>
              <a:t>Multi-stage build for the inventory API.</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app.py</a:t>
            </a:r>
          </a:p>
          <a:p>
            <a:pPr algn="l">
              <a:spcAft>
                <a:spcPts val="300"/>
              </a:spcAft>
            </a:pPr>
            <a:r>
              <a:rPr sz="1200" b="0">
                <a:solidFill>
                  <a:srgbClr val="5B6372"/>
                </a:solidFill>
                <a:latin typeface="Arial"/>
              </a:rPr>
              <a:t>Flask inventory API serving the mock inventory data.</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requirements.txt</a:t>
            </a:r>
          </a:p>
          <a:p>
            <a:pPr algn="l">
              <a:spcAft>
                <a:spcPts val="300"/>
              </a:spcAft>
            </a:pPr>
            <a:r>
              <a:rPr sz="1200" b="0">
                <a:solidFill>
                  <a:srgbClr val="5B6372"/>
                </a:solidFill>
                <a:latin typeface="Arial"/>
              </a:rPr>
              <a:t>Python dependencies for the API.</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inventory.json</a:t>
            </a:r>
          </a:p>
          <a:p>
            <a:pPr algn="l">
              <a:spcAft>
                <a:spcPts val="300"/>
              </a:spcAft>
            </a:pPr>
            <a:r>
              <a:rPr sz="1200" b="0">
                <a:solidFill>
                  <a:srgbClr val="5B6372"/>
                </a:solidFill>
                <a:latin typeface="Arial"/>
              </a:rPr>
              <a:t>Mock inventory data — 12 SKUs with stock levels.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49808"/>
          </a:xfrm>
          <a:prstGeom prst="rect">
            <a:avLst/>
          </a:prstGeom>
          <a:noFill/>
        </p:spPr>
        <p:txBody>
          <a:bodyPr wrap="square" anchor="ctr">
            <a:spAutoFit/>
          </a:bodyPr>
          <a:lstStyle/>
          <a:p>
            <a:pPr algn="ctr">
              <a:spcAft>
                <a:spcPts val="0"/>
              </a:spcAft>
            </a:pPr>
            <a:r>
              <a:rPr sz="1200" b="1">
                <a:solidFill>
                  <a:srgbClr val="161B26"/>
                </a:solidFill>
                <a:latin typeface="Arial"/>
              </a:rPr>
              <a:t>Review the multi-stage Dockerfile</a:t>
            </a:r>
          </a:p>
        </p:txBody>
      </p:sp>
      <p:sp>
        <p:nvSpPr>
          <p:cNvPr id="12" name="TextBox 11"/>
          <p:cNvSpPr txBox="1"/>
          <p:nvPr/>
        </p:nvSpPr>
        <p:spPr>
          <a:xfrm>
            <a:off x="850392"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cat Dockerfile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Build the image</a:t>
            </a:r>
          </a:p>
        </p:txBody>
      </p:sp>
      <p:sp>
        <p:nvSpPr>
          <p:cNvPr id="19" name="TextBox 18"/>
          <p:cNvSpPr txBox="1"/>
          <p:nvPr/>
        </p:nvSpPr>
        <p:spPr>
          <a:xfrm>
            <a:off x="3054096"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docker …</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Inspect the image layers created by each…</a:t>
            </a:r>
          </a:p>
        </p:txBody>
      </p:sp>
      <p:sp>
        <p:nvSpPr>
          <p:cNvPr id="26" name="TextBox 25"/>
          <p:cNvSpPr txBox="1"/>
          <p:nvPr/>
        </p:nvSpPr>
        <p:spPr>
          <a:xfrm>
            <a:off x="5257800"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docker …</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49808"/>
          </a:xfrm>
          <a:prstGeom prst="rect">
            <a:avLst/>
          </a:prstGeom>
          <a:noFill/>
        </p:spPr>
        <p:txBody>
          <a:bodyPr wrap="square" anchor="ctr">
            <a:spAutoFit/>
          </a:bodyPr>
          <a:lstStyle/>
          <a:p>
            <a:pPr algn="ctr">
              <a:spcAft>
                <a:spcPts val="0"/>
              </a:spcAft>
            </a:pPr>
            <a:r>
              <a:rPr sz="1200" b="1">
                <a:solidFill>
                  <a:srgbClr val="161B26"/>
                </a:solidFill>
                <a:latin typeface="Arial"/>
              </a:rPr>
              <a:t>Read the OCI image configuration…</a:t>
            </a:r>
          </a:p>
        </p:txBody>
      </p:sp>
      <p:sp>
        <p:nvSpPr>
          <p:cNvPr id="33" name="TextBox 32"/>
          <p:cNvSpPr txBox="1"/>
          <p:nvPr/>
        </p:nvSpPr>
        <p:spPr>
          <a:xfrm>
            <a:off x="7461504"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docker …</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Run the container locally with a memory…</a:t>
            </a:r>
          </a:p>
        </p:txBody>
      </p:sp>
      <p:sp>
        <p:nvSpPr>
          <p:cNvPr id="40" name="TextBox 39"/>
          <p:cNvSpPr txBox="1"/>
          <p:nvPr/>
        </p:nvSpPr>
        <p:spPr>
          <a:xfrm>
            <a:off x="9665208"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docker …</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Build an OCI image, run it as a container, and explain the runtime layer beneath Kubernetes.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and Run Containers with Docker and the OCI Standard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Review the multi-stage Dockerfile and note why the runtime stage is slim</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cat Dockerfile</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Build the image and tag it with a version</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docker build -t inventory-api:1.0 .</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Inspect the image layers created by each Dockerfile instruction</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docker history inventory-api:1.0</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Read the OCI image configuration — entrypoint, env and architecture</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docker inspect inventory-api:1.0 --format '{{json .Config}}' | python3 -m json.tool | head -20</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and Run Containers with Docker and the OCI Standard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Run the container locally with a memory limit and a published port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docker run -d --name inv --memory=256m -p 8080:8080 inventory-api:1.0</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Call the API and confirm the mock inventory data is served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curl -s http://localhost:8080/inventory | head -20</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Show that the container is just an isolated process on the host</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docker top inv &amp;&amp; docker stats --no-stream inv</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Stop and remove the local container</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docker rm -f inv</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and Run Containers with Docker and the OCI Standard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Load the image into the cluster so Kubernetes can run it without a registry</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minikube image load inventory-api:1.0</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Confirm which CRI runtime the node uses to run containers</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node minikube -o jsonpath='{.status.nodeInfo.containerRuntimeVersion}'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Build and Run Containers with Docker and the OCI Standard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curl http://localhost:8080/inventory returns the 12 mock SKUs, and the node's containerRuntimeVersion reports containerd (or cri-o), confirming Kubernetes runs OCI images through the CRI.</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docker build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it from the lab folder so Dockerfile and app.py are in the build context.</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Port 8080 already in use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Stop the other container: docker rm -f inv, or publish a different host port.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Image not found in cluster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Side-load it: minikube image load inventory-api:1.0.</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Expose Applications with Services and Ingress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Kubernetes networking to give stable discovery and external access to ephemeral Pods.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learner deploys the inventory API, fronts it with a ClusterIP Service, proves DNS-based service discovery from inside the cluster, then exposes it externally through NodePort and an Ingress with host-based routing.</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internally discoverable ClusterIP Service and an externally reachable Ingress route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Service (ClusterIP/NodePort/LoadBalancer), CoreDNS, Endpoints, Ingress, ingress-nginx, CNI</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curl-test Pod resolves inventory.kcna-lab.svc.cluster.local and returns inventory JSON, and the same data is returned through the Ingress using the Host header — proving discovery works internally and externally.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labs/lab-06-… · MANIFESTS &amp; MOCK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6 — Files in Your Lab Folder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deployment-inventory.yaml</a:t>
            </a:r>
          </a:p>
          <a:p>
            <a:pPr algn="l">
              <a:spcAft>
                <a:spcPts val="300"/>
              </a:spcAft>
            </a:pPr>
            <a:r>
              <a:rPr sz="1200" b="0">
                <a:solidFill>
                  <a:srgbClr val="5B6372"/>
                </a:solidFill>
                <a:latin typeface="Arial"/>
              </a:rPr>
              <a:t>Deployment of the inventory API built in Lab 5.</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service-clusterip.yaml</a:t>
            </a:r>
          </a:p>
          <a:p>
            <a:pPr algn="l">
              <a:spcAft>
                <a:spcPts val="300"/>
              </a:spcAft>
            </a:pPr>
            <a:r>
              <a:rPr sz="1200" b="0">
                <a:solidFill>
                  <a:srgbClr val="5B6372"/>
                </a:solidFill>
                <a:latin typeface="Arial"/>
              </a:rPr>
              <a:t>ClusterIP Service selecting the inventory Pods.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service-nodeport.yaml</a:t>
            </a:r>
          </a:p>
          <a:p>
            <a:pPr algn="l">
              <a:spcAft>
                <a:spcPts val="300"/>
              </a:spcAft>
            </a:pPr>
            <a:r>
              <a:rPr sz="1200" b="0">
                <a:solidFill>
                  <a:srgbClr val="5B6372"/>
                </a:solidFill>
                <a:latin typeface="Arial"/>
              </a:rPr>
              <a:t>NodePort Service for external access.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ingress-inventory.yaml</a:t>
            </a:r>
          </a:p>
          <a:p>
            <a:pPr algn="l">
              <a:spcAft>
                <a:spcPts val="300"/>
              </a:spcAft>
            </a:pPr>
            <a:r>
              <a:rPr sz="1200" b="0">
                <a:solidFill>
                  <a:srgbClr val="5B6372"/>
                </a:solidFill>
                <a:latin typeface="Arial"/>
              </a:rPr>
              <a:t>Ingress with host-based routing for inventory.kcna.local.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Deploy the inventory API into the cluster</a:t>
            </a:r>
          </a:p>
        </p:txBody>
      </p:sp>
      <p:sp>
        <p:nvSpPr>
          <p:cNvPr id="12" name="TextBox 11"/>
          <p:cNvSpPr txBox="1"/>
          <p:nvPr/>
        </p:nvSpPr>
        <p:spPr>
          <a:xfrm>
            <a:off x="850392"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Create a ClusterIP Service</a:t>
            </a:r>
          </a:p>
        </p:txBody>
      </p:sp>
      <p:sp>
        <p:nvSpPr>
          <p:cNvPr id="19" name="TextBox 18"/>
          <p:cNvSpPr txBox="1"/>
          <p:nvPr/>
        </p:nvSpPr>
        <p:spPr>
          <a:xfrm>
            <a:off x="3054096"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49808"/>
          </a:xfrm>
          <a:prstGeom prst="rect">
            <a:avLst/>
          </a:prstGeom>
          <a:noFill/>
        </p:spPr>
        <p:txBody>
          <a:bodyPr wrap="square" anchor="ctr">
            <a:spAutoFit/>
          </a:bodyPr>
          <a:lstStyle/>
          <a:p>
            <a:pPr algn="ctr">
              <a:spcAft>
                <a:spcPts val="0"/>
              </a:spcAft>
            </a:pPr>
            <a:r>
              <a:rPr sz="1200" b="1">
                <a:solidFill>
                  <a:srgbClr val="161B26"/>
                </a:solidFill>
                <a:latin typeface="Arial"/>
              </a:rPr>
              <a:t>Confirm the Service selector actually…</a:t>
            </a:r>
          </a:p>
        </p:txBody>
      </p:sp>
      <p:sp>
        <p:nvSpPr>
          <p:cNvPr id="26" name="TextBox 25"/>
          <p:cNvSpPr txBox="1"/>
          <p:nvPr/>
        </p:nvSpPr>
        <p:spPr>
          <a:xfrm>
            <a:off x="5257800"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Prove DNS service discovery from inside…</a:t>
            </a:r>
          </a:p>
        </p:txBody>
      </p:sp>
      <p:sp>
        <p:nvSpPr>
          <p:cNvPr id="33" name="TextBox 32"/>
          <p:cNvSpPr txBox="1"/>
          <p:nvPr/>
        </p:nvSpPr>
        <p:spPr>
          <a:xfrm>
            <a:off x="7461504"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…/inventory</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Scale the Deployment</a:t>
            </a:r>
          </a:p>
        </p:txBody>
      </p:sp>
      <p:sp>
        <p:nvSpPr>
          <p:cNvPr id="40" name="TextBox 39"/>
          <p:cNvSpPr txBox="1"/>
          <p:nvPr/>
        </p:nvSpPr>
        <p:spPr>
          <a:xfrm>
            <a:off x="9665208"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Apply Kubernetes networking to give stable discovery and external access to ephemeral Pods.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Expose Applications with Services and Ingress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Deploy the inventory API into the cluster</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deployment-inventory.yaml</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Create a ClusterIP Service and inspect the virtual IP it receives</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service-clusterip.yaml &amp;&amp; kubectl get svc inventory -n kcna-lab</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Confirm the Service selector actually matched Pods by reading its Endpoints</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endpoints inventory -n kcna-lab -o wide</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Prove DNS service discovery from inside another Pod</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run curl-test -n kcna-lab --rm -it --image=curlimages/curl --restart=Never -- curl -s...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Expose Applications with Services and Ingress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Scale the Deployment and watch the Endpoints list grow automatically</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scale deploy inventory -n kcna-lab --replicas=3 &amp;&amp; kubectl get endpoints inventory -n...</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Expose the same Pods externally with a NodePort Service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service-nodeport.yaml</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Reach the NodePort from outside the cluster</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curl -s $(minikube ip):30080/inventory | head -10</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Enable the ingress controller that will terminate HTTP routing</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minikube addons enable ingress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Expose Applications with Services and Ingress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Create the Ingress with host-based routing to the Service</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ingress-inventory.yaml &amp;&amp; kubectl get ingress -n kcna-lab</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Test the host-based route through the ingress controller</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curl -s -H 'Host: inventory.kcna.local' http://$(minikube ip)/inventory | head -10</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Expose Applications with Services and Ingress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curl-test Pod resolves inventory.kcna-lab.svc.cluster.local and returns inventory JSON, and the same data is returned through the Ingress using the Host header — proving discovery works internally and externally.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Service has no endpoints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selector does not match the Pod labels — the most common Service bug.</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Ingress returns 404</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Enable the controller: minikube addons enable ingress, then wait for it to be Ready.</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Host routing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Pass the header: curl -H 'Host: inventory.kcna.local' http://$(minikube ip)/.</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Secure the Cluster with RBAC, Secrets and NetworkPolicy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the 4C security model using RBAC, ServiceAccounts, Secrets and network segmentation.</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learner creates a least-privilege ServiceAccount bound to a namespaced Role, verifies the permission boundary with kubectl auth can-i, mounts credentials from a Secret, and switches the namespace to default-deny with a NetworkPolicy.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least-privilege ServiceAccount, a mounted Secret, and a default-deny network posture with one allowed path</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RBAC (Role, RoleBinding), ServiceAccount, Secret, NetworkPolicy, Pod Security Standards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auth can-i returns yes for list pods and no for delete pods and for kube-system; after the default-deny policy an unlabelled Pod cannot reach the inventory Service, while a Pod labelled app=frontend can.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labs/lab-07-… · MANIFESTS &amp; MOCK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7 — Files in Your Lab Folder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serviceaccount.yaml</a:t>
            </a:r>
          </a:p>
          <a:p>
            <a:pPr algn="l">
              <a:spcAft>
                <a:spcPts val="300"/>
              </a:spcAft>
            </a:pPr>
            <a:r>
              <a:rPr sz="1200" b="0">
                <a:solidFill>
                  <a:srgbClr val="5B6372"/>
                </a:solidFill>
                <a:latin typeface="Arial"/>
              </a:rPr>
              <a:t>The inventory-reader ServiceAccount.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role-rbac.yaml</a:t>
            </a:r>
          </a:p>
          <a:p>
            <a:pPr algn="l">
              <a:spcAft>
                <a:spcPts val="300"/>
              </a:spcAft>
            </a:pPr>
            <a:r>
              <a:rPr sz="1200" b="0">
                <a:solidFill>
                  <a:srgbClr val="5B6372"/>
                </a:solidFill>
                <a:latin typeface="Arial"/>
              </a:rPr>
              <a:t>Role + RoleBinding granting read-only access to Pods.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secret-dbcreds.yaml</a:t>
            </a:r>
          </a:p>
          <a:p>
            <a:pPr algn="l">
              <a:spcAft>
                <a:spcPts val="300"/>
              </a:spcAft>
            </a:pPr>
            <a:r>
              <a:rPr sz="1200" b="0">
                <a:solidFill>
                  <a:srgbClr val="5B6372"/>
                </a:solidFill>
                <a:latin typeface="Arial"/>
              </a:rPr>
              <a:t>Mock database credentials as a Secret.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pod-secret-consumer.yaml</a:t>
            </a:r>
          </a:p>
          <a:p>
            <a:pPr algn="l">
              <a:spcAft>
                <a:spcPts val="300"/>
              </a:spcAft>
            </a:pPr>
            <a:r>
              <a:rPr sz="1200" b="0">
                <a:solidFill>
                  <a:srgbClr val="5B6372"/>
                </a:solidFill>
                <a:latin typeface="Arial"/>
              </a:rPr>
              <a:t>Pod mounting the Secret as environment variables.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networkpolicy-default-deny.yaml</a:t>
            </a:r>
          </a:p>
          <a:p>
            <a:pPr algn="l">
              <a:spcAft>
                <a:spcPts val="300"/>
              </a:spcAft>
            </a:pPr>
            <a:r>
              <a:rPr sz="1200" b="0">
                <a:solidFill>
                  <a:srgbClr val="5B6372"/>
                </a:solidFill>
                <a:latin typeface="Arial"/>
              </a:rPr>
              <a:t>Default-deny ingress policy for the namespace.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networkpolicy-allow-frontend.yaml</a:t>
            </a:r>
          </a:p>
          <a:p>
            <a:pPr algn="l">
              <a:spcAft>
                <a:spcPts val="300"/>
              </a:spcAft>
            </a:pPr>
            <a:r>
              <a:rPr sz="1200" b="0">
                <a:solidFill>
                  <a:srgbClr val="5B6372"/>
                </a:solidFill>
                <a:latin typeface="Arial"/>
              </a:rPr>
              <a:t>Policy allowing only the frontend to reach the API.</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Create a dedicated ServiceAccount for the…</a:t>
            </a:r>
          </a:p>
        </p:txBody>
      </p:sp>
      <p:sp>
        <p:nvSpPr>
          <p:cNvPr id="12" name="TextBox 11"/>
          <p:cNvSpPr txBox="1"/>
          <p:nvPr/>
        </p:nvSpPr>
        <p:spPr>
          <a:xfrm>
            <a:off x="850392"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Bind a namespaced read-only Role to that…</a:t>
            </a:r>
          </a:p>
        </p:txBody>
      </p:sp>
      <p:sp>
        <p:nvSpPr>
          <p:cNvPr id="19" name="TextBox 18"/>
          <p:cNvSpPr txBox="1"/>
          <p:nvPr/>
        </p:nvSpPr>
        <p:spPr>
          <a:xfrm>
            <a:off x="3054096"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49808"/>
          </a:xfrm>
          <a:prstGeom prst="rect">
            <a:avLst/>
          </a:prstGeom>
          <a:noFill/>
        </p:spPr>
        <p:txBody>
          <a:bodyPr wrap="square" anchor="ctr">
            <a:spAutoFit/>
          </a:bodyPr>
          <a:lstStyle/>
          <a:p>
            <a:pPr algn="ctr">
              <a:spcAft>
                <a:spcPts val="0"/>
              </a:spcAft>
            </a:pPr>
            <a:r>
              <a:rPr sz="1200" b="1">
                <a:solidFill>
                  <a:srgbClr val="161B26"/>
                </a:solidFill>
                <a:latin typeface="Arial"/>
              </a:rPr>
              <a:t>Verify the permission it was granted</a:t>
            </a:r>
          </a:p>
        </p:txBody>
      </p:sp>
      <p:sp>
        <p:nvSpPr>
          <p:cNvPr id="26" name="TextBox 25"/>
          <p:cNvSpPr txBox="1"/>
          <p:nvPr/>
        </p:nvSpPr>
        <p:spPr>
          <a:xfrm>
            <a:off x="5257800"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Verify the permission it was deliberately…</a:t>
            </a:r>
          </a:p>
        </p:txBody>
      </p:sp>
      <p:sp>
        <p:nvSpPr>
          <p:cNvPr id="33" name="TextBox 32"/>
          <p:cNvSpPr txBox="1"/>
          <p:nvPr/>
        </p:nvSpPr>
        <p:spPr>
          <a:xfrm>
            <a:off x="7461504"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49808"/>
          </a:xfrm>
          <a:prstGeom prst="rect">
            <a:avLst/>
          </a:prstGeom>
          <a:noFill/>
        </p:spPr>
        <p:txBody>
          <a:bodyPr wrap="square" anchor="ctr">
            <a:spAutoFit/>
          </a:bodyPr>
          <a:lstStyle/>
          <a:p>
            <a:pPr algn="ctr">
              <a:spcAft>
                <a:spcPts val="0"/>
              </a:spcAft>
            </a:pPr>
            <a:r>
              <a:rPr sz="1200" b="1">
                <a:solidFill>
                  <a:srgbClr val="161B26"/>
                </a:solidFill>
                <a:latin typeface="Arial"/>
              </a:rPr>
              <a:t>Confirm the boundary is namespaced</a:t>
            </a:r>
          </a:p>
        </p:txBody>
      </p:sp>
      <p:sp>
        <p:nvSpPr>
          <p:cNvPr id="40" name="TextBox 39"/>
          <p:cNvSpPr txBox="1"/>
          <p:nvPr/>
        </p:nvSpPr>
        <p:spPr>
          <a:xfrm>
            <a:off x="9665208"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Apply the 4C security model using RBAC, ServiceAccounts, Secrets and network segmentation.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Secure the Cluster with RBAC, Secrets and NetworkPolicy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Create a dedicated ServiceAccount for the application</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serviceaccount.yaml</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Bind a namespaced read-only Role to that ServiceAccount</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role-rbac.yaml</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Verify the permission it was granted</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auth can-i list pods -n kcna-lab --as=system:serviceaccount:kcna-lab:inventory-reader</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Verify the permission it was deliberately NOT granted</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auth can-i delete pods -n kcna-lab --as=system:serviceaccount:kcna-lab:inventory-reader</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Secure the Cluster with RBAC, Secrets and NetworkPolicy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Confirm the boundary is namespaced, not cluster-wide</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auth can-i list pods -n kube-system --as=system:serviceaccount:kcna-lab:inventory-reader</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Create the mock database credentials as a Secret</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secret-dbcreds.yaml</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Show that a Secret is base64-encoded, not encrypted at rest by default</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secret db-credentials -n kcna-lab -o jsonpath='{.data.password}' | base64 -d</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Run a Pod that consumes the Secret as environment variables</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pod-secret-consumer.yaml &amp;&amp; kubectl logs secret-consumer -n kcna-lab</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Secure the Cluster with RBAC, Secrets and NetworkPolicy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Apply a default-deny NetworkPolicy and confirm traffic is now blocked</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networkpolicy-default-deny.yaml</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Allow only the frontend to reach the API, then re-test connectivity</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networkpolicy-allow-frontend.yaml</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Secure the Cluster with RBAC, Secrets and NetworkPolicy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auth can-i returns yes for list pods and no for delete pods and for kube-system; after the default-deny policy an unlabelled Pod cannot reach the inventory Service, while a Pod labelled app=frontend can.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can-i always says yes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are testing as yourself. Add --as=system:serviceaccount:kcna-lab:inventory-reader.</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Secret value looks garbled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It is base64. Decode it: kubectl get secret db-credentials -o jsonpath='{.data.password}' | base64 -d.</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NetworkPolicy has no effect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CNI must enforce policy. On minikube start with --cni=calico.</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Persist Data with PersistentVolumes, StatefulSets and Storage Classes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Decouple storage from compute using PVCs, StorageClasses and StatefulSets, and model a service mesh's role.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learner provisions storage dynamically through a StorageClass, proves data survives Pod deletion, deploys a StatefulSet with per-replica volumes and stable identities, and compares this with the sidecar model used by a service mesh.</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dynamically provisioned PVC whose data survives Pod deletion, plus a 3-replica StatefulSet with stable storage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PersistentVolume, PersistentVolumeClaim, StorageClass, CSI, StatefulSet, headless Service, service mesh concepts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order records survive deleting and recreating the Pod, and the StatefulSet produces database-0/1/2 each with its own PVC, with database-0 resolvable by its stable DNS name.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labs/lab-08-… · MANIFESTS &amp; MOCK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8 — Files in Your Lab Folder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pvc-orders.yaml</a:t>
            </a:r>
          </a:p>
          <a:p>
            <a:pPr algn="l">
              <a:spcAft>
                <a:spcPts val="300"/>
              </a:spcAft>
            </a:pPr>
            <a:r>
              <a:rPr sz="1200" b="0">
                <a:solidFill>
                  <a:srgbClr val="5B6372"/>
                </a:solidFill>
                <a:latin typeface="Arial"/>
              </a:rPr>
              <a:t>PersistentVolumeClaim requesting 1Gi of storage.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pod-with-pvc.yaml</a:t>
            </a:r>
          </a:p>
          <a:p>
            <a:pPr algn="l">
              <a:spcAft>
                <a:spcPts val="300"/>
              </a:spcAft>
            </a:pPr>
            <a:r>
              <a:rPr sz="1200" b="0">
                <a:solidFill>
                  <a:srgbClr val="5B6372"/>
                </a:solidFill>
                <a:latin typeface="Arial"/>
              </a:rPr>
              <a:t>Pod mounting the PVC and writing order records.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statefulset-database.yaml</a:t>
            </a:r>
          </a:p>
          <a:p>
            <a:pPr algn="l">
              <a:spcAft>
                <a:spcPts val="300"/>
              </a:spcAft>
            </a:pPr>
            <a:r>
              <a:rPr sz="1200" b="0">
                <a:solidFill>
                  <a:srgbClr val="5B6372"/>
                </a:solidFill>
                <a:latin typeface="Arial"/>
              </a:rPr>
              <a:t>3-replica StatefulSet with volumeClaimTemplates.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service-headless.yaml</a:t>
            </a:r>
          </a:p>
          <a:p>
            <a:pPr algn="l">
              <a:spcAft>
                <a:spcPts val="300"/>
              </a:spcAft>
            </a:pPr>
            <a:r>
              <a:rPr sz="1200" b="0">
                <a:solidFill>
                  <a:srgbClr val="5B6372"/>
                </a:solidFill>
                <a:latin typeface="Arial"/>
              </a:rPr>
              <a:t>Headless Service giving each replica a stable DNS name.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orders.csv</a:t>
            </a:r>
          </a:p>
          <a:p>
            <a:pPr algn="l">
              <a:spcAft>
                <a:spcPts val="300"/>
              </a:spcAft>
            </a:pPr>
            <a:r>
              <a:rPr sz="1200" b="0">
                <a:solidFill>
                  <a:srgbClr val="5B6372"/>
                </a:solidFill>
                <a:latin typeface="Arial"/>
              </a:rPr>
              <a:t>Mock order records written to the volume.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Inspect the StorageClasses the cluster…</a:t>
            </a:r>
          </a:p>
        </p:txBody>
      </p:sp>
      <p:sp>
        <p:nvSpPr>
          <p:cNvPr id="12" name="TextBox 11"/>
          <p:cNvSpPr txBox="1"/>
          <p:nvPr/>
        </p:nvSpPr>
        <p:spPr>
          <a:xfrm>
            <a:off x="850392"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get storageclass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Request storage with a PersistentVolumeClaim</a:t>
            </a:r>
          </a:p>
        </p:txBody>
      </p:sp>
      <p:sp>
        <p:nvSpPr>
          <p:cNvPr id="19" name="TextBox 18"/>
          <p:cNvSpPr txBox="1"/>
          <p:nvPr/>
        </p:nvSpPr>
        <p:spPr>
          <a:xfrm>
            <a:off x="3054096"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Confirm a PersistentVolume was provisioned…</a:t>
            </a:r>
          </a:p>
        </p:txBody>
      </p:sp>
      <p:sp>
        <p:nvSpPr>
          <p:cNvPr id="26" name="TextBox 25"/>
          <p:cNvSpPr txBox="1"/>
          <p:nvPr/>
        </p:nvSpPr>
        <p:spPr>
          <a:xfrm>
            <a:off x="5257800"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get pv</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49808"/>
          </a:xfrm>
          <a:prstGeom prst="rect">
            <a:avLst/>
          </a:prstGeom>
          <a:noFill/>
        </p:spPr>
        <p:txBody>
          <a:bodyPr wrap="square" anchor="ctr">
            <a:spAutoFit/>
          </a:bodyPr>
          <a:lstStyle/>
          <a:p>
            <a:pPr algn="ctr">
              <a:spcAft>
                <a:spcPts val="0"/>
              </a:spcAft>
            </a:pPr>
            <a:r>
              <a:rPr sz="1200" b="1">
                <a:solidFill>
                  <a:srgbClr val="161B26"/>
                </a:solidFill>
                <a:latin typeface="Arial"/>
              </a:rPr>
              <a:t>Run a Pod that mounts the claim</a:t>
            </a:r>
          </a:p>
        </p:txBody>
      </p:sp>
      <p:sp>
        <p:nvSpPr>
          <p:cNvPr id="33" name="TextBox 32"/>
          <p:cNvSpPr txBox="1"/>
          <p:nvPr/>
        </p:nvSpPr>
        <p:spPr>
          <a:xfrm>
            <a:off x="7461504"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49808"/>
          </a:xfrm>
          <a:prstGeom prst="rect">
            <a:avLst/>
          </a:prstGeom>
          <a:noFill/>
        </p:spPr>
        <p:txBody>
          <a:bodyPr wrap="square" anchor="ctr">
            <a:spAutoFit/>
          </a:bodyPr>
          <a:lstStyle/>
          <a:p>
            <a:pPr algn="ctr">
              <a:spcAft>
                <a:spcPts val="0"/>
              </a:spcAft>
            </a:pPr>
            <a:r>
              <a:rPr sz="1200" b="1">
                <a:solidFill>
                  <a:srgbClr val="161B26"/>
                </a:solidFill>
                <a:latin typeface="Arial"/>
              </a:rPr>
              <a:t>Verify the data was written to the…</a:t>
            </a:r>
          </a:p>
        </p:txBody>
      </p:sp>
      <p:sp>
        <p:nvSpPr>
          <p:cNvPr id="40" name="TextBox 39"/>
          <p:cNvSpPr txBox="1"/>
          <p:nvPr/>
        </p:nvSpPr>
        <p:spPr>
          <a:xfrm>
            <a:off x="9665208"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…/orders.csv | head -5</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Decouple storage from compute using PVCs, StorageClasses and StatefulSets, and model a service mesh's role.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Persist Data with PersistentVolumes, StatefulSets and Storage Classes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Inspect the StorageClasses the cluster offers for dynamic provisioning</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storageclass</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Request storage with a PersistentVolumeClaim</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pvc-orders.yaml &amp;&amp; kubectl get pvc -n kcna-lab</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Confirm a PersistentVolume was provisioned automatically to satisfy it</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pv</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Run a Pod that mounts the claim and writes the mock order records</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pod-with-pvc.yaml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Persist Data with PersistentVolumes, StatefulSets and Storage Classes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Verify the data was written to the persistent volume</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exec -n kcna-lab writer -- cat /data/orders.csv | head -5</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Delete the Pod — the volume and its data must survive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delete pod writer -n kcna-lab</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Recreate the Pod and confirm the data is still there</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pod-with-pvc.yaml &amp;&amp; kubectl exec -n kcna-lab writer -- wc -l /data/orders.csv</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Deploy a StatefulSet with a headless Service for stable identities</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service-headless.yaml -f statefulset-database.yaml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Persist Data with PersistentVolumes, StatefulSets and Storage Classes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Observe ordinal Pod names and the PVC created per replica</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pods,pvc -n kcna-lab -l app=database</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Resolve a single replica by its stable DNS name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run dns-test -n kcna-lab --rm -it --image=busybox:1.36 --restart=Never -- nslookup da...</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Persist Data with PersistentVolumes, StatefulSets and Storage Classes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order records survive deleting and recreating the Pod, and the StatefulSet produces database-0/1/2 each with its own PVC, with database-0 resolvable by its stable DNS name.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PVC stays Pending</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No default StorageClass. Check kubectl get storageclass.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Data lost after delete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deleted the PVC, not just the Pod. The volume follows the claim.</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StatefulSet Pods stuck</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They start in order — Pod 0 must be Ready before Pod 1 is created.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Recap — Container Orchestration and Kubernetes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Build an OCI image, run it as a container, and explain the runtime layer beneath Kubernetes.</a:t>
            </a:r>
          </a:p>
          <a:p>
            <a:pPr>
              <a:spcAft>
                <a:spcPts val="1000"/>
              </a:spcAft>
            </a:pPr>
            <a:r>
              <a:rPr sz="1700" b="0">
                <a:solidFill>
                  <a:srgbClr val="161B26"/>
                </a:solidFill>
                <a:latin typeface="Arial"/>
              </a:rPr>
              <a:t>•  You can now: Apply Kubernetes networking to give stable discovery and external access to ephemeral Pods.</a:t>
            </a:r>
          </a:p>
          <a:p>
            <a:pPr>
              <a:spcAft>
                <a:spcPts val="1000"/>
              </a:spcAft>
            </a:pPr>
            <a:r>
              <a:rPr sz="1700" b="0">
                <a:solidFill>
                  <a:srgbClr val="161B26"/>
                </a:solidFill>
                <a:latin typeface="Arial"/>
              </a:rPr>
              <a:t>•  You can now: Apply the 4C security model using RBAC, ServiceAccounts, Secrets and network segmentation.</a:t>
            </a:r>
          </a:p>
          <a:p>
            <a:pPr>
              <a:spcAft>
                <a:spcPts val="1000"/>
              </a:spcAft>
            </a:pPr>
            <a:r>
              <a:rPr sz="1700" b="0">
                <a:solidFill>
                  <a:srgbClr val="161B26"/>
                </a:solidFill>
                <a:latin typeface="Arial"/>
              </a:rPr>
              <a:t>•  You can now: Decouple storage from compute using PVCs, StorageClasses and StatefulSets, and model a service mesh's role.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Cloud Native Architecture and Scalability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Autoscaling · Serverless · Community &amp; Governance · Roles &amp; Personas · Open Standards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advClick="1">
    <p:push dir="l"/>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KCNA EXAM WEIGHTING 16%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Cloud Native Architecture and Scalability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Cloud native means building loosely-coupled, resilient, observable and manageable systems that exploit elastic infrastructure — not simply running old software in containers.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microservices trade-off: independent deploy and scale, at the cost of network latency, distributed failure modes and far greater operational complexity.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Kubernetes autoscales on three axes: the HPA adds Pod replicas, the VPA right-sizes requests and limits, and the Cluster Autoscaler adds or removes nodes.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HPA computes desired replicas as ceil(current replicas x current metric / target metric), so target selection directly determines cost and headroom.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Serverless removes server management and scales to zero; Knative and KEDA bring the event-driven, scale-to-zero model onto Kubernetes itself.</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KCNA EXAM WEIGHTING 16%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Key Concepts — Cloud Native Architecture and Scalability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Resilience is designed in: liveness probes restart a hung container, readiness probes remove a Pod from the Service, and a PodDisruptionBudget protects availability during maintenance.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CNCF stewards the ecosystem with a maturity ladder — Sandbox, Incubating, Graduated — that is a genuine signal of production readiness.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Open standards prevent lock-in: OCI for images, CRI for runtimes, CNI for networking, CSI for storage, SMI for meshes and OpenTelemetry for telemetry.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Cloud native roles and personas — platform engineer, SRE, DevOps engineer, security engineer — divide responsibility across the same shared platform.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technical blueprint records the decisions: chosen components, their interfaces, non-functional requirements, and the rationale behind each trade-off.</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Hands-On Labs — Cloud Native Architecture and Scalability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9</a:t>
            </a:r>
          </a:p>
        </p:txBody>
      </p:sp>
      <p:sp>
        <p:nvSpPr>
          <p:cNvPr id="10" name="TextBox 9"/>
          <p:cNvSpPr txBox="1"/>
          <p:nvPr/>
        </p:nvSpPr>
        <p:spPr>
          <a:xfrm>
            <a:off x="100584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Autoscale Workloads with the Horizontal Pod Autoscaler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10</a:t>
            </a:r>
          </a:p>
        </p:txBody>
      </p:sp>
      <p:sp>
        <p:nvSpPr>
          <p:cNvPr id="14" name="TextBox 13"/>
          <p:cNvSpPr txBox="1"/>
          <p:nvPr/>
        </p:nvSpPr>
        <p:spPr>
          <a:xfrm>
            <a:off x="480060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Build Resilience with Probes, Disruption Budgets and Multi-Tier Architecture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11</a:t>
            </a:r>
          </a:p>
        </p:txBody>
      </p:sp>
      <p:sp>
        <p:nvSpPr>
          <p:cNvPr id="18" name="TextBox 17"/>
          <p:cNvSpPr txBox="1"/>
          <p:nvPr/>
        </p:nvSpPr>
        <p:spPr>
          <a:xfrm>
            <a:off x="859536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Explore Serverless, Open Standards and the CNCF Landscape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Autoscale Workloads with the Horizontal Pod Autoscaler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Identify the technical requirements for elastic scaling and demonstrate autoscaling under real load.</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learner enables the metrics pipeline, deploys a CPU-bound service with the resource requests the HPA needs, applies an HPA, generates load, and records the scale-up and scale-down behaviour as evidence for the blueprint.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working HPA that scales a Deployment from 1 to 10 replicas under load and back down again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HorizontalPodAutoscaler, metrics-server, resource requests, Deployment, Cluster Autoscaler concepts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kubectl get hpa shows TARGETS rising well above 50% and REPLICAS increasing from 1 towards 10 under load, then returning to 1 after the 5-minute scale-down stabilisation window.</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labs/lab-09-… · MANIFESTS &amp; MOCK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9 — Files in Your Lab Folder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deployment-cpu-load.yaml</a:t>
            </a:r>
          </a:p>
          <a:p>
            <a:pPr algn="l">
              <a:spcAft>
                <a:spcPts val="300"/>
              </a:spcAft>
            </a:pPr>
            <a:r>
              <a:rPr sz="1200" b="0">
                <a:solidFill>
                  <a:srgbClr val="5B6372"/>
                </a:solidFill>
                <a:latin typeface="Arial"/>
              </a:rPr>
              <a:t>CPU-bound PHP-Apache workload with CPU requests set.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service-cpu-load.yaml</a:t>
            </a:r>
          </a:p>
          <a:p>
            <a:pPr algn="l">
              <a:spcAft>
                <a:spcPts val="300"/>
              </a:spcAft>
            </a:pPr>
            <a:r>
              <a:rPr sz="1200" b="0">
                <a:solidFill>
                  <a:srgbClr val="5B6372"/>
                </a:solidFill>
                <a:latin typeface="Arial"/>
              </a:rPr>
              <a:t>Service fronting the CPU-bound workload.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hpa-cpu.yaml</a:t>
            </a:r>
          </a:p>
          <a:p>
            <a:pPr algn="l">
              <a:spcAft>
                <a:spcPts val="300"/>
              </a:spcAft>
            </a:pPr>
            <a:r>
              <a:rPr sz="1200" b="0">
                <a:solidFill>
                  <a:srgbClr val="5B6372"/>
                </a:solidFill>
                <a:latin typeface="Arial"/>
              </a:rPr>
              <a:t>HPA targeting 50% average CPU utilisation, 1-10 replicas.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load-generator.yaml</a:t>
            </a:r>
          </a:p>
          <a:p>
            <a:pPr algn="l">
              <a:spcAft>
                <a:spcPts val="300"/>
              </a:spcAft>
            </a:pPr>
            <a:r>
              <a:rPr sz="1200" b="0">
                <a:solidFill>
                  <a:srgbClr val="5B6372"/>
                </a:solidFill>
                <a:latin typeface="Arial"/>
              </a:rPr>
              <a:t>Pod generating continuous HTTP load.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scaling-observations.md</a:t>
            </a:r>
          </a:p>
          <a:p>
            <a:pPr algn="l">
              <a:spcAft>
                <a:spcPts val="300"/>
              </a:spcAft>
            </a:pPr>
            <a:r>
              <a:rPr sz="1200" b="0">
                <a:solidFill>
                  <a:srgbClr val="5B6372"/>
                </a:solidFill>
                <a:latin typeface="Arial"/>
              </a:rPr>
              <a:t>Worksheet: record replica counts against elapsed time.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Enable the metrics pipeline the HPA reads…</a:t>
            </a:r>
          </a:p>
        </p:txBody>
      </p:sp>
      <p:sp>
        <p:nvSpPr>
          <p:cNvPr id="12" name="TextBox 11"/>
          <p:cNvSpPr txBox="1"/>
          <p:nvPr/>
        </p:nvSpPr>
        <p:spPr>
          <a:xfrm>
            <a:off x="850392"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minikube …</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Confirm metrics are flowing before relying…</a:t>
            </a:r>
          </a:p>
        </p:txBody>
      </p:sp>
      <p:sp>
        <p:nvSpPr>
          <p:cNvPr id="19" name="TextBox 18"/>
          <p:cNvSpPr txBox="1"/>
          <p:nvPr/>
        </p:nvSpPr>
        <p:spPr>
          <a:xfrm>
            <a:off x="3054096"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Deploy the CPU-bound workload — note the…</a:t>
            </a:r>
          </a:p>
        </p:txBody>
      </p:sp>
      <p:sp>
        <p:nvSpPr>
          <p:cNvPr id="26" name="TextBox 25"/>
          <p:cNvSpPr txBox="1"/>
          <p:nvPr/>
        </p:nvSpPr>
        <p:spPr>
          <a:xfrm>
            <a:off x="5257800"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Create the HPA targeting 50% average CPU…</a:t>
            </a:r>
          </a:p>
        </p:txBody>
      </p:sp>
      <p:sp>
        <p:nvSpPr>
          <p:cNvPr id="33" name="TextBox 32"/>
          <p:cNvSpPr txBox="1"/>
          <p:nvPr/>
        </p:nvSpPr>
        <p:spPr>
          <a:xfrm>
            <a:off x="7461504"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apply -f hpa-cpu.yaml</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Read the HPA's current view of the target…</a:t>
            </a:r>
          </a:p>
        </p:txBody>
      </p:sp>
      <p:sp>
        <p:nvSpPr>
          <p:cNvPr id="40" name="TextBox 39"/>
          <p:cNvSpPr txBox="1"/>
          <p:nvPr/>
        </p:nvSpPr>
        <p:spPr>
          <a:xfrm>
            <a:off x="9665208"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Identify the technical requirements for elastic scaling and demonstrate autoscaling under real load.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Autoscale Workloads with the Horizontal Pod Autoscaler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Enable the metrics pipeline the HPA reads from</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minikube addons enable metrics-server</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Confirm metrics are flowing before relying on them</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top nodes &amp;&amp; kubectl top pods -n kcna-lab</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Deploy the CPU-bound workload — note the CPU request the HPA needs</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deployment-cpu-load.yaml -f service-cpu-load.yaml</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Create the HPA targeting 50% average CPU utilisation</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hpa-cpu.yaml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Autoscale Workloads with the Horizontal Pod Autoscaler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Read the HPA's current view of the target metric</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hpa cpu-load -n kcna-lab -o wide</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Start the load generator to drive CPU above the target</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load-generator.yaml</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Watch the HPA scale the Deployment up in response</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hpa cpu-load -n kcna-lab -w --timeout=300s</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Record the scaling decisions the controller made and why</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describe hpa cpu-load -n kcna-lab | grep -A10 Events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Autoscale Workloads with the Horizontal Pod Autoscaler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Remove the load and observe the stabilisation window before scale-down</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delete -f load-generator.yaml</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Complete scaling-observations.md with your replica-count timeline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hpa cpu-load -n kcna-lab</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Autoscale Workloads with the Horizontal Pod Autoscaler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kubectl get hpa shows TARGETS rising well above 50% and REPLICAS increasing from 1 towards 10 under load, then returning to 1 after the 5-minute scale-down stabilisation window.</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HPA shows &lt;unknown&gt;</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metrics-server is not ready: minikube addons enable metrics-server, then wait 60s.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scale-up under load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Deployment needs a CPU request — the HPA has no denominator without it.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Scale-down seems stuck</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That is the 300s stabilisation window. Wait it out.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Resilience with Probes, Disruption Budgets and Multi-Tier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Prepare a technical blueprint for a resilient multi-tier cloud native architecture and prove its failure behaviour.</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learner deploys a three-tier application, configures liveness, readiness and startup probes, deliberately fails a container to watch Kubernetes self-heal, and protects availability during maintenance with a PodDisruptionBudget.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three-tier application with health probes and a PodDisruptionBudget, plus a documented blueprint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liveness/readiness/startup probes, PodDisruptionBudget, Deployment, Service, resource limits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API container restarts automatically after the health file is removed (RESTARTS increments and a Liveness probe failed event is logged), and kubectl get pdb reports ALLOWED DISRUPTIONS consistent with minAvailable: 2.</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labs/lab-10-… · MANIFESTS &amp; MOCK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10 — Files in Your Lab Folder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tier-frontend.yaml</a:t>
            </a:r>
          </a:p>
          <a:p>
            <a:pPr algn="l">
              <a:spcAft>
                <a:spcPts val="300"/>
              </a:spcAft>
            </a:pPr>
            <a:r>
              <a:rPr sz="1200" b="0">
                <a:solidFill>
                  <a:srgbClr val="5B6372"/>
                </a:solidFill>
                <a:latin typeface="Arial"/>
              </a:rPr>
              <a:t>Frontend Deployment + Service with readiness probe.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tier-api.yaml</a:t>
            </a:r>
          </a:p>
          <a:p>
            <a:pPr algn="l">
              <a:spcAft>
                <a:spcPts val="300"/>
              </a:spcAft>
            </a:pPr>
            <a:r>
              <a:rPr sz="1200" b="0">
                <a:solidFill>
                  <a:srgbClr val="5B6372"/>
                </a:solidFill>
                <a:latin typeface="Arial"/>
              </a:rPr>
              <a:t>API tier with liveness, readiness and startup probes.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tier-database.yaml</a:t>
            </a:r>
          </a:p>
          <a:p>
            <a:pPr algn="l">
              <a:spcAft>
                <a:spcPts val="300"/>
              </a:spcAft>
            </a:pPr>
            <a:r>
              <a:rPr sz="1200" b="0">
                <a:solidFill>
                  <a:srgbClr val="5B6372"/>
                </a:solidFill>
                <a:latin typeface="Arial"/>
              </a:rPr>
              <a:t>Database tier with a persistent volume.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pdb-api.yaml</a:t>
            </a:r>
          </a:p>
          <a:p>
            <a:pPr algn="l">
              <a:spcAft>
                <a:spcPts val="300"/>
              </a:spcAft>
            </a:pPr>
            <a:r>
              <a:rPr sz="1200" b="0">
                <a:solidFill>
                  <a:srgbClr val="5B6372"/>
                </a:solidFill>
                <a:latin typeface="Arial"/>
              </a:rPr>
              <a:t>PodDisruptionBudget requiring minAvailable: 2.</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blueprint-template.md</a:t>
            </a:r>
          </a:p>
          <a:p>
            <a:pPr algn="l">
              <a:spcAft>
                <a:spcPts val="300"/>
              </a:spcAft>
            </a:pPr>
            <a:r>
              <a:rPr sz="1200" b="0">
                <a:solidFill>
                  <a:srgbClr val="5B6372"/>
                </a:solidFill>
                <a:latin typeface="Arial"/>
              </a:rPr>
              <a:t>Technical blueprint worksheet — components, interfaces, NFRs, trade-offs.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Deploy the three tiers of the application</a:t>
            </a:r>
          </a:p>
        </p:txBody>
      </p:sp>
      <p:sp>
        <p:nvSpPr>
          <p:cNvPr id="12" name="TextBox 11"/>
          <p:cNvSpPr txBox="1"/>
          <p:nvPr/>
        </p:nvSpPr>
        <p:spPr>
          <a:xfrm>
            <a:off x="850392"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49808"/>
          </a:xfrm>
          <a:prstGeom prst="rect">
            <a:avLst/>
          </a:prstGeom>
          <a:noFill/>
        </p:spPr>
        <p:txBody>
          <a:bodyPr wrap="square" anchor="ctr">
            <a:spAutoFit/>
          </a:bodyPr>
          <a:lstStyle/>
          <a:p>
            <a:pPr algn="ctr">
              <a:spcAft>
                <a:spcPts val="0"/>
              </a:spcAft>
            </a:pPr>
            <a:r>
              <a:rPr sz="1200" b="1">
                <a:solidFill>
                  <a:srgbClr val="161B26"/>
                </a:solidFill>
                <a:latin typeface="Arial"/>
              </a:rPr>
              <a:t>Confirm all three tiers are running</a:t>
            </a:r>
          </a:p>
        </p:txBody>
      </p:sp>
      <p:sp>
        <p:nvSpPr>
          <p:cNvPr id="19" name="TextBox 18"/>
          <p:cNvSpPr txBox="1"/>
          <p:nvPr/>
        </p:nvSpPr>
        <p:spPr>
          <a:xfrm>
            <a:off x="3054096"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Inspect the probe configuration on the API…</a:t>
            </a:r>
          </a:p>
        </p:txBody>
      </p:sp>
      <p:sp>
        <p:nvSpPr>
          <p:cNvPr id="26" name="TextBox 25"/>
          <p:cNvSpPr txBox="1"/>
          <p:nvPr/>
        </p:nvSpPr>
        <p:spPr>
          <a:xfrm>
            <a:off x="5257800"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Watch a readiness probe gate traffic — the…</a:t>
            </a:r>
          </a:p>
        </p:txBody>
      </p:sp>
      <p:sp>
        <p:nvSpPr>
          <p:cNvPr id="33" name="TextBox 32"/>
          <p:cNvSpPr txBox="1"/>
          <p:nvPr/>
        </p:nvSpPr>
        <p:spPr>
          <a:xfrm>
            <a:off x="7461504"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Break the health endpoint deliberately to…</a:t>
            </a:r>
          </a:p>
        </p:txBody>
      </p:sp>
      <p:sp>
        <p:nvSpPr>
          <p:cNvPr id="40" name="TextBox 39"/>
          <p:cNvSpPr txBox="1"/>
          <p:nvPr/>
        </p:nvSpPr>
        <p:spPr>
          <a:xfrm>
            <a:off x="9665208"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…/healthz</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Prepare a technical blueprint for a resilient multi-tier cloud native architecture and prove its failure behaviour.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Build Resilience with Probes, Disruption Budgets and Multi-Tier Architecture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Deploy the three tiers of the application</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tier-database.yaml -f tier-api.yaml -f tier-frontend.yaml</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Confirm all three tiers are running and their Services resolve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deploy,svc,pods -n kcna-lab -l tier</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Inspect the probe configuration on the API tier</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deploy api -n kcna-lab -o jsonpath='{.spec.template.spec.containers[0].livenessPr...</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Watch a readiness probe gate traffic — the Pod is Running but not Ready</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pods -n kcna-lab -l tier=api -o wide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Build Resilience with Probes, Disruption Budgets and Multi-Tier Architecture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Break the health endpoint deliberately to trigger the liveness probe</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exec -n kcna-lab deploy/api -- rm -f /usr/share/nginx/html/healthz</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Watch Kubernetes restart the unhealthy container automatically</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pods -n kcna-lab -l tier=api -w --timeout=120s</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Confirm the restart count and the probe failure event</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describe pod -n kcna-lab -l tier=api | grep -A5 'Liveness probe failed'</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Apply a PodDisruptionBudget to protect availability during maintenance</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pdb-api.yaml &amp;&amp; kubectl get pdb -n kcna-lab</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Build Resilience with Probes, Disruption Budgets and Multi-Tier Architecture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Attempt a node drain and observe the PDB blocking excessive eviction</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drain minikube --ignore-daemonsets --delete-emptydir-data --dry-run=server 2&gt;&amp;1 | hea...</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Complete blueprint-template.md documenting components, interfaces and NFRs</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cat blueprint-template.md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Resilience with Probes, Disruption Budgets and Multi-Tier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API container restarts automatically after the health file is removed (RESTARTS increments and a Liveness probe failed event is logged), and kubectl get pdb reports ALLOWED DISRUPTIONS consistent with minAvailable: 2.</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Container never restarts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liveness probe path still returns 200. Confirm you removed the health file.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Pod Running but not Ready</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That is the readiness probe doing its job — check the probe path and port.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PDB shows 0 allowed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Fewer healthy Pods than minAvailable. Scale up before draining.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Explore Serverless, Open Standards and the CNCF Landscape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Identify stakeholder demands and open standards that constrain a cloud native technical blueprint.</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learner examines the open standards that keep Kubernetes portable — OCI, CRI, CNI, CSI — by inspecting the cluster's own implementations, models event-driven scale-to-zero, and maps candidate CNCF projects to the blueprint's requirements.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standards-and-projects selection matrix justifying each component of the blueprint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CNCF landscape, OCI, CRI, CNI, CSI, Knative and KEDA concepts, ConfigMap, scale-to-zero</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standards-matrix.md names the actual CRI, CNI and CSI implementations found in this cluster, and the scale-to-zero Deployment reports 0/0 replicas when idle and 3/3 after scaling back up.</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labs/lab-11-… · MANIFESTS &amp; MOCK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11 — Files in Your Lab Folder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standards-matrix.md</a:t>
            </a:r>
          </a:p>
          <a:p>
            <a:pPr algn="l">
              <a:spcAft>
                <a:spcPts val="300"/>
              </a:spcAft>
            </a:pPr>
            <a:r>
              <a:rPr sz="1200" b="0">
                <a:solidFill>
                  <a:srgbClr val="5B6372"/>
                </a:solidFill>
                <a:latin typeface="Arial"/>
              </a:rPr>
              <a:t>Worksheet mapping each standard to its cluster implementation.</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configmap-scaling-policy.yaml</a:t>
            </a:r>
          </a:p>
          <a:p>
            <a:pPr algn="l">
              <a:spcAft>
                <a:spcPts val="300"/>
              </a:spcAft>
            </a:pPr>
            <a:r>
              <a:rPr sz="1200" b="0">
                <a:solidFill>
                  <a:srgbClr val="5B6372"/>
                </a:solidFill>
                <a:latin typeface="Arial"/>
              </a:rPr>
              <a:t>Event-driven scaling policy expressed as config.</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deployment-scale-to-zero.yaml</a:t>
            </a:r>
          </a:p>
          <a:p>
            <a:pPr algn="l">
              <a:spcAft>
                <a:spcPts val="300"/>
              </a:spcAft>
            </a:pPr>
            <a:r>
              <a:rPr sz="1200" b="0">
                <a:solidFill>
                  <a:srgbClr val="5B6372"/>
                </a:solidFill>
                <a:latin typeface="Arial"/>
              </a:rPr>
              <a:t>Deployment demonstrating scale-to-zero and back.</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cncf-selection.csv</a:t>
            </a:r>
          </a:p>
          <a:p>
            <a:pPr algn="l">
              <a:spcAft>
                <a:spcPts val="300"/>
              </a:spcAft>
            </a:pPr>
            <a:r>
              <a:rPr sz="1200" b="0">
                <a:solidFill>
                  <a:srgbClr val="5B6372"/>
                </a:solidFill>
                <a:latin typeface="Arial"/>
              </a:rPr>
              <a:t>Mock evaluation of 8 CNCF projects against blueprint criteria.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Identify the CRI implementation actually…</a:t>
            </a:r>
          </a:p>
        </p:txBody>
      </p:sp>
      <p:sp>
        <p:nvSpPr>
          <p:cNvPr id="12" name="TextBox 11"/>
          <p:cNvSpPr txBox="1"/>
          <p:nvPr/>
        </p:nvSpPr>
        <p:spPr>
          <a:xfrm>
            <a:off x="850392"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Identify the CNI plugin providing the Pod…</a:t>
            </a:r>
          </a:p>
        </p:txBody>
      </p:sp>
      <p:sp>
        <p:nvSpPr>
          <p:cNvPr id="19" name="TextBox 18"/>
          <p:cNvSpPr txBox="1"/>
          <p:nvPr/>
        </p:nvSpPr>
        <p:spPr>
          <a:xfrm>
            <a:off x="3054096"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Identify the CSI driver</a:t>
            </a:r>
          </a:p>
        </p:txBody>
      </p:sp>
      <p:sp>
        <p:nvSpPr>
          <p:cNvPr id="26" name="TextBox 25"/>
          <p:cNvSpPr txBox="1"/>
          <p:nvPr/>
        </p:nvSpPr>
        <p:spPr>
          <a:xfrm>
            <a:off x="5257800"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Confirm the OCI image spec by reading an…</a:t>
            </a:r>
          </a:p>
        </p:txBody>
      </p:sp>
      <p:sp>
        <p:nvSpPr>
          <p:cNvPr id="33" name="TextBox 32"/>
          <p:cNvSpPr txBox="1"/>
          <p:nvPr/>
        </p:nvSpPr>
        <p:spPr>
          <a:xfrm>
            <a:off x="7461504"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Apply the event-driven scaling policy as…</a:t>
            </a:r>
          </a:p>
        </p:txBody>
      </p:sp>
      <p:sp>
        <p:nvSpPr>
          <p:cNvPr id="40" name="TextBox 39"/>
          <p:cNvSpPr txBox="1"/>
          <p:nvPr/>
        </p:nvSpPr>
        <p:spPr>
          <a:xfrm>
            <a:off x="9665208"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Identify stakeholder demands and open standards that constrain a cloud native technical blueprint.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Explore Serverless, Open Standards and the CNCF Landscape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Identify the CRI implementation actually running your containers</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nodes -o jsonpath='{.items[*].status.nodeInfo.containerRuntimeVersion}'</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Identify the CNI plugin providing the Pod network</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pods -n kube-system -o name | grep -Ei 'cni|calico|flannel|kindnet'</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Identify the CSI driver and StorageClass provisioner in use</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storageclass -o jsonpath='{.items[*].provisioner}'</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Confirm the OCI image spec by reading an image's architecture and layers</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pod -n kcna-lab -o jsonpath='{.items[0].status.containerStatuses[0].imageID}'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Explore Serverless, Open Standards and the CNCF Landscape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Apply the event-driven scaling policy as configuration</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configmap-scaling-policy.yaml</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Deploy the workload that will demonstrate scale-to-zero</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deployment-scale-to-zero.yaml</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Scale the workload to zero to model the serverless idle state</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scale deploy scale-to-zero -n kcna-lab --replicas=0</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Confirm no Pods and therefore no compute cost while idle</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deploy scale-to-zero -n kcna-lab</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Explore Serverless, Open Standards and the CNCF Landscape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Scale back up on demand and measure the cold-start latency</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time kubectl scale deploy scale-to-zero -n kcna-lab --replicas=3 --timeout=60s</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Complete cncf-selection.csv and standards-matrix.md for your blueprint</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cat cncf-selection.csv</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Explore Serverless, Open Standards and the CNCF Landscape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standards-matrix.md names the actual CRI, CNI and CSI implementations found in this cluster, and the scale-to-zero Deployment reports 0/0 replicas when idle and 3/3 after scaling back up.</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CNI pod listed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minikube may use kindnet. Widen the grep or check kubectl get pods -n kube-system.</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Scale to zero rejected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Some controllers block 0. Use kubectl scale --replicas=0 on the Deployment itself.</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Cold start feels slow</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That is the trade-off being taught — the image pull dominates the first start.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Cloud Native Architecture and Scalability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Identify the technical requirements for elastic scaling and demonstrate autoscaling under real load.</a:t>
            </a:r>
          </a:p>
          <a:p>
            <a:pPr>
              <a:spcAft>
                <a:spcPts val="1000"/>
              </a:spcAft>
            </a:pPr>
            <a:r>
              <a:rPr sz="1700" b="0">
                <a:solidFill>
                  <a:srgbClr val="161B26"/>
                </a:solidFill>
                <a:latin typeface="Arial"/>
              </a:rPr>
              <a:t>•  You can now: Prepare a technical blueprint for a resilient multi-tier cloud native architecture and prove its failure behaviour.</a:t>
            </a:r>
          </a:p>
          <a:p>
            <a:pPr>
              <a:spcAft>
                <a:spcPts val="1000"/>
              </a:spcAft>
            </a:pPr>
            <a:r>
              <a:rPr sz="1700" b="0">
                <a:solidFill>
                  <a:srgbClr val="161B26"/>
                </a:solidFill>
                <a:latin typeface="Arial"/>
              </a:rPr>
              <a:t>•  You can now: Identify stakeholder demands and open standards that constrain a cloud native technical blueprint.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Kubernetes Monitoring and Observability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Telemetry &amp; Observability · Prometheus · Cost Management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med" advClick="1">
    <p:push dir="l"/>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KCNA EXAM WEIGHTING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Kubernetes Monitoring and Observability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Monitoring answers questions you already knew to ask; observability lets you ask new questions of a running system without shipping new code.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three pillars are metrics (cheap, aggregatable numbers), logs (discrete events with detail) and traces (one request's path across services).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Prometheus pulls metrics by scraping an HTTP /metrics endpoint on a schedule, and stores them as a time series identified by a name and a set of labels.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four Prometheus metric types: counter (only increases), gauge (goes up and down), histogram (bucketed observations) and summary (client-side quantiles).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PromQL selects a series then applies functions — rate() over a counter gives per-second throughput; histogram_quantile() over buckets gives latency percentiles.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KCNA EXAM WEIGHTING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Kubernetes Monitoring and Observability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four golden signals — latency, traffic, errors and saturation — are the minimum viable dashboard for any service.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Alert on symptoms that users feel, not on causes: page on the error-rate SLO burning, not on a single Pod restarting.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OpenTelemetry is the vendor-neutral standard for generating and exporting metrics, logs and traces, so instrumentation survives a change of backend.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Cost management is an observability problem: unbounded requests, idle nodes and over-provisioned limits are all visible in the same metrics.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FinOps practices — right-sizing from real usage, cluster autoscaling, spot nodes and namespace-level showback — turn those metrics into savings.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Hands-On Labs — Kubernetes Monitoring and Observability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12</a:t>
            </a:r>
          </a:p>
        </p:txBody>
      </p:sp>
      <p:sp>
        <p:nvSpPr>
          <p:cNvPr id="10" name="TextBox 9"/>
          <p:cNvSpPr txBox="1"/>
          <p:nvPr/>
        </p:nvSpPr>
        <p:spPr>
          <a:xfrm>
            <a:off x="100584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Instrument and Collect Metrics with Prometheus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13</a:t>
            </a:r>
          </a:p>
        </p:txBody>
      </p:sp>
      <p:sp>
        <p:nvSpPr>
          <p:cNvPr id="14" name="TextBox 13"/>
          <p:cNvSpPr txBox="1"/>
          <p:nvPr/>
        </p:nvSpPr>
        <p:spPr>
          <a:xfrm>
            <a:off x="480060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Apply the Golden Signals, Alerting and Cost Management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Instrument and Collect Metrics with Prometheus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Demonstrate how observability components collect the telemetry needed to address a business problem.</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learner deploys Prometheus into the cluster, exposes an application /metrics endpoint carrying mock order and latency data, confirms the scrape targets are healthy, and queries the data with PromQL to answer a stated business question.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running Prometheus scraping a custom application exporter, queried with PromQL</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Prometheus, exporters, /metrics endpoint, PromQL, ServiceMonitor concepts, counters/gauges/histograms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Prometheus targets API reports health=up for every job, and the PromQL queries return numeric values for order throughput and 95th-percentile latency.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labs/lab-12-… · MANIFESTS &amp; MOCK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12 — Files in Your Lab Folder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prometheus-config.yaml</a:t>
            </a:r>
          </a:p>
          <a:p>
            <a:pPr algn="l">
              <a:spcAft>
                <a:spcPts val="300"/>
              </a:spcAft>
            </a:pPr>
            <a:r>
              <a:rPr sz="1200" b="0">
                <a:solidFill>
                  <a:srgbClr val="5B6372"/>
                </a:solidFill>
                <a:latin typeface="Arial"/>
              </a:rPr>
              <a:t>ConfigMap with the Prometheus scrape configuration.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prometheus-deployment.yaml</a:t>
            </a:r>
          </a:p>
          <a:p>
            <a:pPr algn="l">
              <a:spcAft>
                <a:spcPts val="300"/>
              </a:spcAft>
            </a:pPr>
            <a:r>
              <a:rPr sz="1200" b="0">
                <a:solidFill>
                  <a:srgbClr val="5B6372"/>
                </a:solidFill>
                <a:latin typeface="Arial"/>
              </a:rPr>
              <a:t>Prometheus Deployment + Service.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prometheus-rbac.yaml</a:t>
            </a:r>
          </a:p>
          <a:p>
            <a:pPr algn="l">
              <a:spcAft>
                <a:spcPts val="300"/>
              </a:spcAft>
            </a:pPr>
            <a:r>
              <a:rPr sz="1200" b="0">
                <a:solidFill>
                  <a:srgbClr val="5B6372"/>
                </a:solidFill>
                <a:latin typeface="Arial"/>
              </a:rPr>
              <a:t>ServiceAccount and ClusterRole for service discovery.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metrics-app.yaml</a:t>
            </a:r>
          </a:p>
          <a:p>
            <a:pPr algn="l">
              <a:spcAft>
                <a:spcPts val="300"/>
              </a:spcAft>
            </a:pPr>
            <a:r>
              <a:rPr sz="1200" b="0">
                <a:solidFill>
                  <a:srgbClr val="5B6372"/>
                </a:solidFill>
                <a:latin typeface="Arial"/>
              </a:rPr>
              <a:t>Sample app exposing counters, gauges and histograms.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sample-metrics.txt</a:t>
            </a:r>
          </a:p>
          <a:p>
            <a:pPr algn="l">
              <a:spcAft>
                <a:spcPts val="300"/>
              </a:spcAft>
            </a:pPr>
            <a:r>
              <a:rPr sz="1200" b="0">
                <a:solidFill>
                  <a:srgbClr val="5B6372"/>
                </a:solidFill>
                <a:latin typeface="Arial"/>
              </a:rPr>
              <a:t>Mock /metrics output — orders, errors and latency buckets.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49808"/>
          </a:xfrm>
          <a:prstGeom prst="rect">
            <a:avLst/>
          </a:prstGeom>
          <a:noFill/>
        </p:spPr>
        <p:txBody>
          <a:bodyPr wrap="square" anchor="ctr">
            <a:spAutoFit/>
          </a:bodyPr>
          <a:lstStyle/>
          <a:p>
            <a:pPr algn="ctr">
              <a:spcAft>
                <a:spcPts val="0"/>
              </a:spcAft>
            </a:pPr>
            <a:r>
              <a:rPr sz="1200" b="1">
                <a:solidFill>
                  <a:srgbClr val="161B26"/>
                </a:solidFill>
                <a:latin typeface="Arial"/>
              </a:rPr>
              <a:t>Review the mock metrics payload</a:t>
            </a:r>
          </a:p>
        </p:txBody>
      </p:sp>
      <p:sp>
        <p:nvSpPr>
          <p:cNvPr id="12" name="TextBox 11"/>
          <p:cNvSpPr txBox="1"/>
          <p:nvPr/>
        </p:nvSpPr>
        <p:spPr>
          <a:xfrm>
            <a:off x="850392"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head -25 sample-metrics.txt</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Grant Prometheus the RBAC it needs for…</a:t>
            </a:r>
          </a:p>
        </p:txBody>
      </p:sp>
      <p:sp>
        <p:nvSpPr>
          <p:cNvPr id="19" name="TextBox 18"/>
          <p:cNvSpPr txBox="1"/>
          <p:nvPr/>
        </p:nvSpPr>
        <p:spPr>
          <a:xfrm>
            <a:off x="3054096"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Load the Prometheus scrape configuration</a:t>
            </a:r>
          </a:p>
        </p:txBody>
      </p:sp>
      <p:sp>
        <p:nvSpPr>
          <p:cNvPr id="26" name="TextBox 25"/>
          <p:cNvSpPr txBox="1"/>
          <p:nvPr/>
        </p:nvSpPr>
        <p:spPr>
          <a:xfrm>
            <a:off x="5257800"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Deploy Prometheus itself</a:t>
            </a:r>
          </a:p>
        </p:txBody>
      </p:sp>
      <p:sp>
        <p:nvSpPr>
          <p:cNvPr id="33" name="TextBox 32"/>
          <p:cNvSpPr txBox="1"/>
          <p:nvPr/>
        </p:nvSpPr>
        <p:spPr>
          <a:xfrm>
            <a:off x="7461504"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49808"/>
          </a:xfrm>
          <a:prstGeom prst="rect">
            <a:avLst/>
          </a:prstGeom>
          <a:noFill/>
        </p:spPr>
        <p:txBody>
          <a:bodyPr wrap="square" anchor="ctr">
            <a:spAutoFit/>
          </a:bodyPr>
          <a:lstStyle/>
          <a:p>
            <a:pPr algn="ctr">
              <a:spcAft>
                <a:spcPts val="0"/>
              </a:spcAft>
            </a:pPr>
            <a:r>
              <a:rPr sz="1200" b="1">
                <a:solidFill>
                  <a:srgbClr val="161B26"/>
                </a:solidFill>
                <a:latin typeface="Arial"/>
              </a:rPr>
              <a:t>Deploy the instrumented application…</a:t>
            </a:r>
          </a:p>
        </p:txBody>
      </p:sp>
      <p:sp>
        <p:nvSpPr>
          <p:cNvPr id="40" name="TextBox 39"/>
          <p:cNvSpPr txBox="1"/>
          <p:nvPr/>
        </p:nvSpPr>
        <p:spPr>
          <a:xfrm>
            <a:off x="9665208"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Demonstrate how observability components collect the telemetry needed to address a business problem.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Instrument and Collect Metrics with Prometheus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Review the mock metrics payload and identify each metric type</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head -25 sample-metrics.txt</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Grant Prometheus the RBAC it needs for Kubernetes service discovery</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prometheus-rbac.yaml</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Load the Prometheus scrape configuration</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prometheus-config.yaml</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Deploy Prometheus itself</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prometheus-deployment.yaml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fast" advClick="1">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Instrument and Collect Metrics with Prometheus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Deploy the instrumented application exposing /metrics</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metrics-app.yaml</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Confirm the application is exposing metrics in the Prometheus text format</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exec -n kcna-lab deploy/metrics-app -- wget -qO- localhost:8080/metrics | head -15</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Port-forward the Prometheus UI to your workstation</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port-forward -n kcna-lab svc/prometheus 9090:9090 &amp;</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Verify every scrape target is UP before trusting the data</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curl -s 'http://localhost:9090/api/v1/targets' | python3 -c "import json,sys; [print(t['label...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fast"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Instrument and Collect Metrics with Prometheus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Query per-second order throughput with rate() over the counter</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curl -s --data-urlencode 'query=rate(orders_total[5m])' http://localhost:9090/api/v1/query</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Compute the 95th-percentile latency from the histogram buckets</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curl -s --data-urlencode 'query=histogram_quantile(0.95, rate(request_duration_seconds_bucket...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fast" advClick="1">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Instrument and Collect Metrics with Prometheus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Prometheus targets API reports health=up for every job, and the PromQL queries return numeric values for order throughput and 95th-percentile latency.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Prometheus targets are down</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RBAC was applied and the scrape config namespace is kcna-lab.</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Port-forward drops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Re-run kubectl port-forward; it does not survive a Pod restart.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PromQL returns empty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Give it two scrape intervals (30s) before the rate() window has data.</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fast" advClick="1">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Apply the Golden Signals, Alerting and Cost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Demonstrate how observability and cost data together resolve a specific business problem.</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learner builds the four golden signals for the order service, writes an alerting rule that fires on the symptom rather than the cause, then analyses cost data — requests versus actual usage — and recommends right-sizing backed by evidence.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golden-signals dashboard specification, a firing alert rule, and a costed right-sizing recommendation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Prometheus alerting rules, golden signals, kubectl top, resource requests, FinOps right-sizing</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HighErrorRate alert reaches state=firing in the Prometheus alerts API after the error burst, and your rightsizing-analysis.md names the two most over-provisioned namespaces with the monthly saving each change would deliver.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fast"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labs/lab-13-… · MANIFESTS &amp; MOCK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13 — Files in Your Lab Folder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alert-rules.yaml</a:t>
            </a:r>
          </a:p>
          <a:p>
            <a:pPr algn="l">
              <a:spcAft>
                <a:spcPts val="300"/>
              </a:spcAft>
            </a:pPr>
            <a:r>
              <a:rPr sz="1200" b="0">
                <a:solidFill>
                  <a:srgbClr val="5B6372"/>
                </a:solidFill>
                <a:latin typeface="Arial"/>
              </a:rPr>
              <a:t>Alerting rules for error rate, latency and saturation.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golden-signals.md</a:t>
            </a:r>
          </a:p>
          <a:p>
            <a:pPr algn="l">
              <a:spcAft>
                <a:spcPts val="300"/>
              </a:spcAft>
            </a:pPr>
            <a:r>
              <a:rPr sz="1200" b="0">
                <a:solidFill>
                  <a:srgbClr val="5B6372"/>
                </a:solidFill>
                <a:latin typeface="Arial"/>
              </a:rPr>
              <a:t>Worksheet: the PromQL query for each golden signal.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cost-report.csv</a:t>
            </a:r>
          </a:p>
          <a:p>
            <a:pPr algn="l">
              <a:spcAft>
                <a:spcPts val="300"/>
              </a:spcAft>
            </a:pPr>
            <a:r>
              <a:rPr sz="1200" b="0">
                <a:solidFill>
                  <a:srgbClr val="5B6372"/>
                </a:solidFill>
                <a:latin typeface="Arial"/>
              </a:rPr>
              <a:t>Mock cost report — 6 namespaces, requested vs used vs monthly cost.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error-burst.yaml</a:t>
            </a:r>
          </a:p>
          <a:p>
            <a:pPr algn="l">
              <a:spcAft>
                <a:spcPts val="300"/>
              </a:spcAft>
            </a:pPr>
            <a:r>
              <a:rPr sz="1200" b="0">
                <a:solidFill>
                  <a:srgbClr val="5B6372"/>
                </a:solidFill>
                <a:latin typeface="Arial"/>
              </a:rPr>
              <a:t>Job generating an error burst to make the alert fire.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rightsizing-analysis.md</a:t>
            </a:r>
          </a:p>
          <a:p>
            <a:pPr algn="l">
              <a:spcAft>
                <a:spcPts val="300"/>
              </a:spcAft>
            </a:pPr>
            <a:r>
              <a:rPr sz="1200" b="0">
                <a:solidFill>
                  <a:srgbClr val="5B6372"/>
                </a:solidFill>
                <a:latin typeface="Arial"/>
              </a:rPr>
              <a:t>Worksheet for the costed recommendation.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fast" advClick="1">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Write the PromQL for each golden signal…</a:t>
            </a:r>
          </a:p>
        </p:txBody>
      </p:sp>
      <p:sp>
        <p:nvSpPr>
          <p:cNvPr id="12" name="TextBox 11"/>
          <p:cNvSpPr txBox="1"/>
          <p:nvPr/>
        </p:nvSpPr>
        <p:spPr>
          <a:xfrm>
            <a:off x="850392"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cat golden-signals.md</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Load the alerting rules into Prometheus</a:t>
            </a:r>
          </a:p>
        </p:txBody>
      </p:sp>
      <p:sp>
        <p:nvSpPr>
          <p:cNvPr id="19" name="TextBox 18"/>
          <p:cNvSpPr txBox="1"/>
          <p:nvPr/>
        </p:nvSpPr>
        <p:spPr>
          <a:xfrm>
            <a:off x="3054096"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Reload the Prometheus configuration so the…</a:t>
            </a:r>
          </a:p>
        </p:txBody>
      </p:sp>
      <p:sp>
        <p:nvSpPr>
          <p:cNvPr id="26" name="TextBox 25"/>
          <p:cNvSpPr txBox="1"/>
          <p:nvPr/>
        </p:nvSpPr>
        <p:spPr>
          <a:xfrm>
            <a:off x="5257800"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49808"/>
          </a:xfrm>
          <a:prstGeom prst="rect">
            <a:avLst/>
          </a:prstGeom>
          <a:noFill/>
        </p:spPr>
        <p:txBody>
          <a:bodyPr wrap="square" anchor="ctr">
            <a:spAutoFit/>
          </a:bodyPr>
          <a:lstStyle/>
          <a:p>
            <a:pPr algn="ctr">
              <a:spcAft>
                <a:spcPts val="0"/>
              </a:spcAft>
            </a:pPr>
            <a:r>
              <a:rPr sz="1200" b="1">
                <a:solidFill>
                  <a:srgbClr val="161B26"/>
                </a:solidFill>
                <a:latin typeface="Arial"/>
              </a:rPr>
              <a:t>Confirm the rules were loaded</a:t>
            </a:r>
          </a:p>
        </p:txBody>
      </p:sp>
      <p:sp>
        <p:nvSpPr>
          <p:cNvPr id="33" name="TextBox 32"/>
          <p:cNvSpPr txBox="1"/>
          <p:nvPr/>
        </p:nvSpPr>
        <p:spPr>
          <a:xfrm>
            <a:off x="7461504"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curl …</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49808"/>
          </a:xfrm>
          <a:prstGeom prst="rect">
            <a:avLst/>
          </a:prstGeom>
          <a:noFill/>
        </p:spPr>
        <p:txBody>
          <a:bodyPr wrap="square" anchor="ctr">
            <a:spAutoFit/>
          </a:bodyPr>
          <a:lstStyle/>
          <a:p>
            <a:pPr algn="ctr">
              <a:spcAft>
                <a:spcPts val="0"/>
              </a:spcAft>
            </a:pPr>
            <a:r>
              <a:rPr sz="1200" b="1">
                <a:solidFill>
                  <a:srgbClr val="161B26"/>
                </a:solidFill>
                <a:latin typeface="Arial"/>
              </a:rPr>
              <a:t>Generate an error burst so the…</a:t>
            </a:r>
          </a:p>
        </p:txBody>
      </p:sp>
      <p:sp>
        <p:nvSpPr>
          <p:cNvPr id="40" name="TextBox 39"/>
          <p:cNvSpPr txBox="1"/>
          <p:nvPr/>
        </p:nvSpPr>
        <p:spPr>
          <a:xfrm>
            <a:off x="9665208"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Demonstrate how observability and cost data together resolve a specific business problem.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Apply the Golden Signals, Alerting and Cost Management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Write the PromQL for each golden signal into golden-signals.md</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cat golden-signals.md</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Load the alerting rules into Prometheus</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alert-rules.yaml</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Reload the Prometheus configuration so the rules take effect</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rollout restart deploy/prometheus -n kcna-lab</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Confirm the rules were loaded and are evaluating</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curl -s http://localhost:9090/api/v1/rules | python3 -m json.tool | head -25</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fast" advClick="1">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Apply the Golden Signals, Alerting and Cost Management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Generate an error burst so the symptom-based alert fires</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error-burst.yaml</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Watch the alert transition from Pending to Firing</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curl -s http://localhost:9090/api/v1/alerts | python3 -m json.tool | head -25</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Compare requested resources against what the Pods actually use</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top pods -n kcna-lab --sort-by=cpu</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Read the mock cost report and identify the two worst-value namespaces</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column -s, -t cost-report.csv</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fast" advClick="1">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Apply the Golden Signals, Alerting and Cost Management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Calculate the waste from over-requested CPU and memory</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python3 -c "import csv;r=list(csv.DictReader(open('cost-report.csv')));[print(x['namespace'],...</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Record your costed right-sizing recommendation with the evidence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cat rightsizing-analysis.md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fast" advClick="1">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Apply the Golden Signals, Alerting and Cost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HighErrorRate alert reaches state=firing in the Prometheus alerts API after the error burst, and your rightsizing-analysis.md names the two most over-provisioned namespaces with the monthly saving each change would deliver.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Alert never fires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Rules load on restart: kubectl rollout restart deploy/prometheus -n kcna-lab.</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kubectl top has no data</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metrics-server again — enable it and wait for the first scrape.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Alert fires immediately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for: duration; it must stay true for the whole window.</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fast" advClick="1">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Kubernetes Monitoring and Observability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Demonstrate how observability components collect the telemetry needed to address a business problem.</a:t>
            </a:r>
          </a:p>
          <a:p>
            <a:pPr>
              <a:spcAft>
                <a:spcPts val="1000"/>
              </a:spcAft>
            </a:pPr>
            <a:r>
              <a:rPr sz="1700" b="0">
                <a:solidFill>
                  <a:srgbClr val="161B26"/>
                </a:solidFill>
                <a:latin typeface="Arial"/>
              </a:rPr>
              <a:t>•  You can now: Demonstrate how observability and cost data together resolve a specific business problem.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fast" advClick="1">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Kubernetes Application Deployment and Management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Application Delivery Fundamentals · GitOps · CI/CD</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med" advClick="1">
    <p:push dir="l"/>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KCNA EXAM WEIGHTING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Kubernetes Application Deployment and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Application delivery on Kubernetes is the practice of moving a change from a commit to running Pods safely, repeatably and reversibly.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Deployment's RollingUpdate strategy with maxSurge and maxUnavailable is the primitive behind every zero-downtime release.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Progressive delivery reduces blast radius: blue-green swaps traffic at once, canary shifts a small percentage first and watches the metrics.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kubectl rollout status, history and undo are the operational loop — every rollout must be reversible before it is attempted.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Packaging manifests matters: Helm templates a chart with values, while Kustomize overlays patches onto a plain base with no templating language.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fast" advClick="1">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KCNA EXAM WEIGHTING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Key Concepts — Kubernetes Application Deployment and Management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GitOps makes Git the single source of truth: the desired state is declared in a repository and an in-cluster agent continuously reconciles the cluster to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Because reconciliation is continuous, GitOps also corrects configuration drift — a manual kubectl edit is reverted automatically.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Argo CD and Flux are the two CNCF-graduated GitOps engines; both watch a repo, diff against the cluster and apply the difference.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CI/CD pipeline builds and tests the image, then updates the manifest repository — CI produces artifacts, CD reconciles state.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system review closes the loop: read the observability data against the SLOs, decide what to change, and adapt the architecture accordingly.</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fast" advClick="1">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Hands-On Labs — Kubernetes Application Deployment and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14</a:t>
            </a:r>
          </a:p>
        </p:txBody>
      </p:sp>
      <p:sp>
        <p:nvSpPr>
          <p:cNvPr id="10" name="TextBox 9"/>
          <p:cNvSpPr txBox="1"/>
          <p:nvPr/>
        </p:nvSpPr>
        <p:spPr>
          <a:xfrm>
            <a:off x="100584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Perform Zero-Downtime Rolling Updates and Canary Releases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15</a:t>
            </a:r>
          </a:p>
        </p:txBody>
      </p:sp>
      <p:sp>
        <p:nvSpPr>
          <p:cNvPr id="14" name="TextBox 13"/>
          <p:cNvSpPr txBox="1"/>
          <p:nvPr/>
        </p:nvSpPr>
        <p:spPr>
          <a:xfrm>
            <a:off x="480060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Package Applications with Helm and Kustomize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16</a:t>
            </a:r>
          </a:p>
        </p:txBody>
      </p:sp>
      <p:sp>
        <p:nvSpPr>
          <p:cNvPr id="18" name="TextBox 17"/>
          <p:cNvSpPr txBox="1"/>
          <p:nvPr/>
        </p:nvSpPr>
        <p:spPr>
          <a:xfrm>
            <a:off x="8595360" y="2697480"/>
            <a:ext cx="2926080" cy="3291840"/>
          </a:xfrm>
          <a:prstGeom prst="rect">
            <a:avLst/>
          </a:prstGeom>
          <a:noFill/>
        </p:spPr>
        <p:txBody>
          <a:bodyPr wrap="square">
            <a:spAutoFit/>
          </a:bodyPr>
          <a:lstStyle/>
          <a:p>
            <a:pPr>
              <a:spcAft>
                <a:spcPts val="900"/>
              </a:spcAft>
            </a:pPr>
            <a:r>
              <a:rPr sz="1400" b="0">
                <a:solidFill>
                  <a:srgbClr val="161B26"/>
                </a:solidFill>
                <a:latin typeface="Arial"/>
              </a:rPr>
              <a:t>•  Automate Delivery with GitOps and CI/CD, and Conduct a System Review</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spd="fast" advClick="1">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Perform Zero-Downtime Rolling Updates and Canary Releases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Implement a controlled release and roll it back, monitoring solution status throughout.</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learner tunes a Deployment's rolling-update strategy, releases a new version while continuously probing for downtime, deliberately deploys a broken image to see the rollout stall, rolls back, then runs a weighted canary release.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verified zero-downtime rolling update, a recovered failed rollout, and a working canary split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Deployment strategy, maxSurge/maxUnavailable, readiness probes, kubectl rollout, canary via replica weighting</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uptime.log records zero failed requests across the rolling update, the broken rollout is detected and reversed by kubectl rollout undo, and the canary Service lists endpoints from both Deployments before promotion.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fast" advClick="1">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labs/lab-14-… · MANIFESTS &amp; MOCK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14 — Files in Your Lab Folder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deployment-v1.yaml</a:t>
            </a:r>
          </a:p>
          <a:p>
            <a:pPr algn="l">
              <a:spcAft>
                <a:spcPts val="300"/>
              </a:spcAft>
            </a:pPr>
            <a:r>
              <a:rPr sz="1200" b="0">
                <a:solidFill>
                  <a:srgbClr val="5B6372"/>
                </a:solidFill>
                <a:latin typeface="Arial"/>
              </a:rPr>
              <a:t>Version 1 with a tuned RollingUpdate strategy.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deployment-v2-broken.yaml</a:t>
            </a:r>
          </a:p>
          <a:p>
            <a:pPr algn="l">
              <a:spcAft>
                <a:spcPts val="300"/>
              </a:spcAft>
            </a:pPr>
            <a:r>
              <a:rPr sz="1200" b="0">
                <a:solidFill>
                  <a:srgbClr val="5B6372"/>
                </a:solidFill>
                <a:latin typeface="Arial"/>
              </a:rPr>
              <a:t>Version 2 with an invalid image — the rollout stalls.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canary-stable.yaml</a:t>
            </a:r>
          </a:p>
          <a:p>
            <a:pPr algn="l">
              <a:spcAft>
                <a:spcPts val="300"/>
              </a:spcAft>
            </a:pPr>
            <a:r>
              <a:rPr sz="1200" b="0">
                <a:solidFill>
                  <a:srgbClr val="5B6372"/>
                </a:solidFill>
                <a:latin typeface="Arial"/>
              </a:rPr>
              <a:t>Stable Deployment, 9 replicas, shared Service selector.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canary-new.yaml</a:t>
            </a:r>
          </a:p>
          <a:p>
            <a:pPr algn="l">
              <a:spcAft>
                <a:spcPts val="300"/>
              </a:spcAft>
            </a:pPr>
            <a:r>
              <a:rPr sz="1200" b="0">
                <a:solidFill>
                  <a:srgbClr val="5B6372"/>
                </a:solidFill>
                <a:latin typeface="Arial"/>
              </a:rPr>
              <a:t>Canary Deployment, 1 replica — a 10% traffic split.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service-canary.yaml</a:t>
            </a:r>
          </a:p>
          <a:p>
            <a:pPr algn="l">
              <a:spcAft>
                <a:spcPts val="300"/>
              </a:spcAft>
            </a:pPr>
            <a:r>
              <a:rPr sz="1200" b="0">
                <a:solidFill>
                  <a:srgbClr val="5B6372"/>
                </a:solidFill>
                <a:latin typeface="Arial"/>
              </a:rPr>
              <a:t>Service selecting both stable and canary Pods.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uptime-probe.sh</a:t>
            </a:r>
          </a:p>
          <a:p>
            <a:pPr algn="l">
              <a:spcAft>
                <a:spcPts val="300"/>
              </a:spcAft>
            </a:pPr>
            <a:r>
              <a:rPr sz="1200" b="0">
                <a:solidFill>
                  <a:srgbClr val="5B6372"/>
                </a:solidFill>
                <a:latin typeface="Arial"/>
              </a:rPr>
              <a:t>Loop that records any failed request during the release.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spd="fast" advClick="1">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Deploy version 1</a:t>
            </a:r>
          </a:p>
        </p:txBody>
      </p:sp>
      <p:sp>
        <p:nvSpPr>
          <p:cNvPr id="12" name="TextBox 11"/>
          <p:cNvSpPr txBox="1"/>
          <p:nvPr/>
        </p:nvSpPr>
        <p:spPr>
          <a:xfrm>
            <a:off x="850392"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Start the uptime probe so downtime would be…</a:t>
            </a:r>
          </a:p>
        </p:txBody>
      </p:sp>
      <p:sp>
        <p:nvSpPr>
          <p:cNvPr id="19" name="TextBox 18"/>
          <p:cNvSpPr txBox="1"/>
          <p:nvPr/>
        </p:nvSpPr>
        <p:spPr>
          <a:xfrm>
            <a:off x="3054096"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uptime-probe.sh …</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Roll out version 2</a:t>
            </a:r>
          </a:p>
        </p:txBody>
      </p:sp>
      <p:sp>
        <p:nvSpPr>
          <p:cNvPr id="26" name="TextBox 25"/>
          <p:cNvSpPr txBox="1"/>
          <p:nvPr/>
        </p:nvSpPr>
        <p:spPr>
          <a:xfrm>
            <a:off x="5257800"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Stop the probe</a:t>
            </a:r>
          </a:p>
        </p:txBody>
      </p:sp>
      <p:sp>
        <p:nvSpPr>
          <p:cNvPr id="33" name="TextBox 32"/>
          <p:cNvSpPr txBox="1"/>
          <p:nvPr/>
        </p:nvSpPr>
        <p:spPr>
          <a:xfrm>
            <a:off x="7461504"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kill …</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49808"/>
          </a:xfrm>
          <a:prstGeom prst="rect">
            <a:avLst/>
          </a:prstGeom>
          <a:noFill/>
        </p:spPr>
        <p:txBody>
          <a:bodyPr wrap="square" anchor="ctr">
            <a:spAutoFit/>
          </a:bodyPr>
          <a:lstStyle/>
          <a:p>
            <a:pPr algn="ctr">
              <a:spcAft>
                <a:spcPts val="0"/>
              </a:spcAft>
            </a:pPr>
            <a:r>
              <a:rPr sz="1200" b="1">
                <a:solidFill>
                  <a:srgbClr val="161B26"/>
                </a:solidFill>
                <a:latin typeface="Arial"/>
              </a:rPr>
              <a:t>Deploy a deliberately broken image</a:t>
            </a:r>
          </a:p>
        </p:txBody>
      </p:sp>
      <p:sp>
        <p:nvSpPr>
          <p:cNvPr id="40" name="TextBox 39"/>
          <p:cNvSpPr txBox="1"/>
          <p:nvPr/>
        </p:nvSpPr>
        <p:spPr>
          <a:xfrm>
            <a:off x="9665208"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Implement a controlled release and roll it back, monitoring solution status throughout.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Perform Zero-Downtime Rolling Updates and Canary Releases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Deploy version 1 and review its rolling-update strategy</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deployment-v1.yaml &amp;&amp; kubectl get deploy app-release -n kcna-lab -o jsonpath...</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Start the uptime probe so downtime would be recorded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bash uptime-probe.sh &gt; uptime.log 2&gt;&amp;1 &amp;</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Roll out version 2 and watch replicas cut over incrementally</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set image deploy/app-release app=nginx:1.27-alpine -n kcna-lab &amp;&amp; kubectl rollout sta...</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Stop the probe and confirm no requests failed during the release</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kill %1; grep -c FAIL uptime.log || echo 'zero failures'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spd="fast" advClick="1">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Perform Zero-Downtime Rolling Updates and Canary Releases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Deploy a deliberately broken image and watch the rollout stall</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deployment-v2-broken.yaml</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Diagnose why the rollout is stuck rather than guessing</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rollout status deploy/app-release -n kcna-lab --timeout=60s; kubectl get pods -n kcna...</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Roll back to the last good revision and confirm recovery</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rollout undo deploy/app-release -n kcna-lab &amp;&amp; kubectl rollout status deploy/app-rele...</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Deploy the stable and canary Deployments behind one Service</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canary-stable.yaml -f canary-new.yaml -f service-canary.yaml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spd="fast" advClick="1">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Perform Zero-Downtime Rolling Updates and Canary Releases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Confirm the Service is load-balancing across both versions</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endpoints app-canary -n kcna-lab -o jsonpath='{.subsets[0].addresses[*].ip}'</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Measure the actual traffic split, then promote or abort the canary</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scale deploy app-canary -n kcna-lab --replicas=10 &amp;&amp; kubectl scale deploy app-stable ...</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ransition spd="fast" advClick="1">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Perform Zero-Downtime Rolling Updates and Canary Releases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uptime.log records zero failed requests across the rolling update, the broken rollout is detected and reversed by kubectl rollout undo, and the canary Service lists endpoints from both Deployments before promotion.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uptime.log shows failures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maxUnavailable must be 0 AND a readiness probe must be set.</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Broken rollout never fails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Set progressDeadlineSeconds so it gives up instead of hanging.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Canary gets no traffic</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Both Deployments must carry the shared label the Service selects on.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fast" advClick="1">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Package Applications with Helm and Kustomize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Package and parameterise a solution so it can be delivered repeatably across environments.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learner packages the application as a Helm chart with environment-specific values, installs and upgrades it, then achieves the same result with Kustomize overlays and compares the two approaches for the delivery blueprint.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installed and upgraded Helm release plus equivalent dev and prod Kustomize overlays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Helm (chart, values, release, upgrade, rollback), Kustomize (base, overlays, patches), kubectl apply -k</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helm list shows the webapp release at revision 3 after the rollback, and the dev and prod Kustomize overlays render 1 and 5 replicas respectively from the same base.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spd="fast" advClick="1">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labs/lab-15-… · MANIFESTS &amp; MOCK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15 — Files in Your Lab Folder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helm-chart/Chart.yaml</a:t>
            </a:r>
          </a:p>
          <a:p>
            <a:pPr algn="l">
              <a:spcAft>
                <a:spcPts val="300"/>
              </a:spcAft>
            </a:pPr>
            <a:r>
              <a:rPr sz="1200" b="0">
                <a:solidFill>
                  <a:srgbClr val="5B6372"/>
                </a:solidFill>
                <a:latin typeface="Arial"/>
              </a:rPr>
              <a:t>Helm chart metadata.</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helm-chart/values.yaml</a:t>
            </a:r>
          </a:p>
          <a:p>
            <a:pPr algn="l">
              <a:spcAft>
                <a:spcPts val="300"/>
              </a:spcAft>
            </a:pPr>
            <a:r>
              <a:rPr sz="1200" b="0">
                <a:solidFill>
                  <a:srgbClr val="5B6372"/>
                </a:solidFill>
                <a:latin typeface="Arial"/>
              </a:rPr>
              <a:t>Default values — replicas, image, resources.</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helm-chart/values-prod.yaml</a:t>
            </a:r>
          </a:p>
          <a:p>
            <a:pPr algn="l">
              <a:spcAft>
                <a:spcPts val="300"/>
              </a:spcAft>
            </a:pPr>
            <a:r>
              <a:rPr sz="1200" b="0">
                <a:solidFill>
                  <a:srgbClr val="5B6372"/>
                </a:solidFill>
                <a:latin typeface="Arial"/>
              </a:rPr>
              <a:t>Production overrides — 5 replicas, higher limits.</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helm-chart/templates/deployment.yaml</a:t>
            </a:r>
          </a:p>
          <a:p>
            <a:pPr algn="l">
              <a:spcAft>
                <a:spcPts val="300"/>
              </a:spcAft>
            </a:pPr>
            <a:r>
              <a:rPr sz="1200" b="0">
                <a:solidFill>
                  <a:srgbClr val="5B6372"/>
                </a:solidFill>
                <a:latin typeface="Arial"/>
              </a:rPr>
              <a:t>Templated Deployment.</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helm-chart/templates/service.yaml</a:t>
            </a:r>
          </a:p>
          <a:p>
            <a:pPr algn="l">
              <a:spcAft>
                <a:spcPts val="300"/>
              </a:spcAft>
            </a:pPr>
            <a:r>
              <a:rPr sz="1200" b="0">
                <a:solidFill>
                  <a:srgbClr val="5B6372"/>
                </a:solidFill>
                <a:latin typeface="Arial"/>
              </a:rPr>
              <a:t>Templated Service.</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kustomize/base/kustomization.yaml</a:t>
            </a:r>
          </a:p>
          <a:p>
            <a:pPr algn="l">
              <a:spcAft>
                <a:spcPts val="300"/>
              </a:spcAft>
            </a:pPr>
            <a:r>
              <a:rPr sz="1200" b="0">
                <a:solidFill>
                  <a:srgbClr val="5B6372"/>
                </a:solidFill>
                <a:latin typeface="Arial"/>
              </a:rPr>
              <a:t>Kustomize base.</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kustomize/overlays/dev/kustomization.yaml</a:t>
            </a:r>
          </a:p>
          <a:p>
            <a:pPr algn="l">
              <a:spcAft>
                <a:spcPts val="300"/>
              </a:spcAft>
            </a:pPr>
            <a:r>
              <a:rPr sz="1200" b="0">
                <a:solidFill>
                  <a:srgbClr val="5B6372"/>
                </a:solidFill>
                <a:latin typeface="Arial"/>
              </a:rPr>
              <a:t>Dev overlay — 1 replica.</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kustomize/overlays/prod/kustomization.yaml</a:t>
            </a:r>
          </a:p>
          <a:p>
            <a:pPr algn="l">
              <a:spcAft>
                <a:spcPts val="300"/>
              </a:spcAft>
            </a:pPr>
            <a:r>
              <a:rPr sz="1200" b="0">
                <a:solidFill>
                  <a:srgbClr val="5B6372"/>
                </a:solidFill>
                <a:latin typeface="Arial"/>
              </a:rPr>
              <a:t>Prod overlay — 5 replicas + patch.</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ransition spd="fast" advClick="1">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Review the chart structure</a:t>
            </a:r>
          </a:p>
        </p:txBody>
      </p:sp>
      <p:sp>
        <p:nvSpPr>
          <p:cNvPr id="12" name="TextBox 11"/>
          <p:cNvSpPr txBox="1"/>
          <p:nvPr/>
        </p:nvSpPr>
        <p:spPr>
          <a:xfrm>
            <a:off x="850392"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helm …/values.yaml</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Render the templates locally to see the…</a:t>
            </a:r>
          </a:p>
        </p:txBody>
      </p:sp>
      <p:sp>
        <p:nvSpPr>
          <p:cNvPr id="19" name="TextBox 18"/>
          <p:cNvSpPr txBox="1"/>
          <p:nvPr/>
        </p:nvSpPr>
        <p:spPr>
          <a:xfrm>
            <a:off x="3054096"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helm …/helm-chart | head -40</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49808"/>
          </a:xfrm>
          <a:prstGeom prst="rect">
            <a:avLst/>
          </a:prstGeom>
          <a:noFill/>
        </p:spPr>
        <p:txBody>
          <a:bodyPr wrap="square" anchor="ctr">
            <a:spAutoFit/>
          </a:bodyPr>
          <a:lstStyle/>
          <a:p>
            <a:pPr algn="ctr">
              <a:spcAft>
                <a:spcPts val="0"/>
              </a:spcAft>
            </a:pPr>
            <a:r>
              <a:rPr sz="1200" b="1">
                <a:solidFill>
                  <a:srgbClr val="161B26"/>
                </a:solidFill>
                <a:latin typeface="Arial"/>
              </a:rPr>
              <a:t>Install the chart as a release in the…</a:t>
            </a:r>
          </a:p>
        </p:txBody>
      </p:sp>
      <p:sp>
        <p:nvSpPr>
          <p:cNvPr id="26" name="TextBox 25"/>
          <p:cNvSpPr txBox="1"/>
          <p:nvPr/>
        </p:nvSpPr>
        <p:spPr>
          <a:xfrm>
            <a:off x="5257800"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helm …</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49808"/>
          </a:xfrm>
          <a:prstGeom prst="rect">
            <a:avLst/>
          </a:prstGeom>
          <a:noFill/>
        </p:spPr>
        <p:txBody>
          <a:bodyPr wrap="square" anchor="ctr">
            <a:spAutoFit/>
          </a:bodyPr>
          <a:lstStyle/>
          <a:p>
            <a:pPr algn="ctr">
              <a:spcAft>
                <a:spcPts val="0"/>
              </a:spcAft>
            </a:pPr>
            <a:r>
              <a:rPr sz="1300" b="1">
                <a:solidFill>
                  <a:srgbClr val="161B26"/>
                </a:solidFill>
                <a:latin typeface="Arial"/>
              </a:rPr>
              <a:t>Confirm the release</a:t>
            </a:r>
          </a:p>
        </p:txBody>
      </p:sp>
      <p:sp>
        <p:nvSpPr>
          <p:cNvPr id="33" name="TextBox 32"/>
          <p:cNvSpPr txBox="1"/>
          <p:nvPr/>
        </p:nvSpPr>
        <p:spPr>
          <a:xfrm>
            <a:off x="7461504"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helm …/instance=webapp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Upgrade the release with the production…</a:t>
            </a:r>
          </a:p>
        </p:txBody>
      </p:sp>
      <p:sp>
        <p:nvSpPr>
          <p:cNvPr id="40" name="TextBox 39"/>
          <p:cNvSpPr txBox="1"/>
          <p:nvPr/>
        </p:nvSpPr>
        <p:spPr>
          <a:xfrm>
            <a:off x="9665208"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helm …</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Package and parameterise a solution so it can be delivered repeatably across environments.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Package Applications with Helm and Kustomize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Review the chart structure and where values are substituted</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helm lint ./helm-chart &amp;&amp; cat helm-chart/values.yaml</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Render the templates locally to see the generated manifests</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helm template webapp ./helm-chart | head -40</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Install the chart as a release in the cluster</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helm install webapp ./helm-chart --namespace kcna-lab</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Confirm the release and the resources it created</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helm list -n kcna-lab &amp;&amp; kubectl get all -n kcna-lab -l app.kubernetes.io/instance=webapp</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ransition spd="fast" advClick="1">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Package Applications with Helm and Kustomize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Upgrade the release with the production values file</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helm upgrade webapp ./helm-chart -f helm-chart/values-prod.yaml -n kcna-lab</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Verify the upgrade took effect and review the release history</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deploy -n kcna-lab -l app.kubernetes.io/instance=webapp &amp;&amp; helm history webapp -n...</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Roll the release back to revision 1</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helm rollback webapp 1 -n kcna-lab</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Build the dev overlay with Kustomize and inspect the output</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kustomize kustomize/overlays/dev | head -30</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ransition spd="fast" advClick="1">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Package Applications with Helm and Kustomize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Apply the prod overlay and compare it with the dev result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-k kustomize/overlays/prod</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Compare the two approaches and record which suits your blueprint</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diff &lt;(kubectl kustomize kustomize/overlays/dev) &lt;(kubectl kustomize kustomize/overlays/prod)...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ransition spd="fast" advClick="1">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Package Applications with Helm and Kustomize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helm list shows the webapp release at revision 3 after the rollback, and the dev and prod Kustomize overlays render 1 and 5 replicas respectively from the same base.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helm lint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it against the chart directory, not a template file.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Release already exists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Upgrade instead of install, or helm uninstall webapp first.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Kustomize build errors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overlay's resources path actually points at ../../base.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ransition spd="fast" advClick="1">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Automate Delivery with GitOps and CI/CD, and Conduct a System Review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Implement regular system reviews to monitor solution status and adapt within a cloud native framework.</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learner models the GitOps reconciliation loop with a Git-backed manifest repository, deliberately introduces configuration drift to watch reconciliation correct it, walks a CI/CD pipeline definition, then conducts a structured system review against the SLOs and records the adaptations.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reconciling GitOps repository that self-corrects drift, plus a completed system review report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GitOps, Argo CD / Flux concepts, Git, CI/CD pipeline, reconciliation loop, SLOs, system review</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100" b="0">
                <a:solidFill>
                  <a:srgbClr val="161B26"/>
                </a:solidFill>
                <a:latin typeface="Arial"/>
              </a:rPr>
              <a:t>After the manual scale to 7, the reconciliation loop restores the replica count declared in Git; after committing replicas: 4, the same loop rolls the change out — and your system-review-report.md lists at least three evidence-backed adaptations against the breached SLOs.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ransition spd="fast" advClick="1">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labs/lab-16-… · MANIFESTS &amp; MOCK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16 — Files in Your Lab Folder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gitops-repo/manifests/deployment.yaml</a:t>
            </a:r>
          </a:p>
          <a:p>
            <a:pPr algn="l">
              <a:spcAft>
                <a:spcPts val="300"/>
              </a:spcAft>
            </a:pPr>
            <a:r>
              <a:rPr sz="1200" b="0">
                <a:solidFill>
                  <a:srgbClr val="5B6372"/>
                </a:solidFill>
                <a:latin typeface="Arial"/>
              </a:rPr>
              <a:t>The declared desired state in Git.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gitops-repo/manifests/service.yaml</a:t>
            </a:r>
          </a:p>
          <a:p>
            <a:pPr algn="l">
              <a:spcAft>
                <a:spcPts val="300"/>
              </a:spcAft>
            </a:pPr>
            <a:r>
              <a:rPr sz="1200" b="0">
                <a:solidFill>
                  <a:srgbClr val="5B6372"/>
                </a:solidFill>
                <a:latin typeface="Arial"/>
              </a:rPr>
              <a:t>Service manifest under version control.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reconcile.sh</a:t>
            </a:r>
          </a:p>
          <a:p>
            <a:pPr algn="l">
              <a:spcAft>
                <a:spcPts val="300"/>
              </a:spcAft>
            </a:pPr>
            <a:r>
              <a:rPr sz="1200" b="0">
                <a:solidFill>
                  <a:srgbClr val="5B6372"/>
                </a:solidFill>
                <a:latin typeface="Arial"/>
              </a:rPr>
              <a:t>Reconciliation loop simulating a GitOps agent.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pipeline.yaml</a:t>
            </a:r>
          </a:p>
          <a:p>
            <a:pPr algn="l">
              <a:spcAft>
                <a:spcPts val="300"/>
              </a:spcAft>
            </a:pPr>
            <a:r>
              <a:rPr sz="1200" b="0">
                <a:solidFill>
                  <a:srgbClr val="5B6372"/>
                </a:solidFill>
                <a:latin typeface="Arial"/>
              </a:rPr>
              <a:t>CI/CD pipeline definition — build, test, scan, update manifest.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slo-targets.csv</a:t>
            </a:r>
          </a:p>
          <a:p>
            <a:pPr algn="l">
              <a:spcAft>
                <a:spcPts val="300"/>
              </a:spcAft>
            </a:pPr>
            <a:r>
              <a:rPr sz="1200" b="0">
                <a:solidFill>
                  <a:srgbClr val="5B6372"/>
                </a:solidFill>
                <a:latin typeface="Arial"/>
              </a:rPr>
              <a:t>Mock SLO targets and 30-day actuals for 5 services.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system-review-report.md</a:t>
            </a:r>
          </a:p>
          <a:p>
            <a:pPr algn="l">
              <a:spcAft>
                <a:spcPts val="300"/>
              </a:spcAft>
            </a:pPr>
            <a:r>
              <a:rPr sz="1200" b="0">
                <a:solidFill>
                  <a:srgbClr val="5B6372"/>
                </a:solidFill>
                <a:latin typeface="Arial"/>
              </a:rPr>
              <a:t>Structured system review template.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spd="fast" advClick="1">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Initialise the manifest repository as the…</a:t>
            </a:r>
          </a:p>
        </p:txBody>
      </p:sp>
      <p:sp>
        <p:nvSpPr>
          <p:cNvPr id="12" name="TextBox 11"/>
          <p:cNvSpPr txBox="1"/>
          <p:nvPr/>
        </p:nvSpPr>
        <p:spPr>
          <a:xfrm>
            <a:off x="850392"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cd …</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Apply the declared state to the cluster to…</a:t>
            </a:r>
          </a:p>
        </p:txBody>
      </p:sp>
      <p:sp>
        <p:nvSpPr>
          <p:cNvPr id="19" name="TextBox 18"/>
          <p:cNvSpPr txBox="1"/>
          <p:nvPr/>
        </p:nvSpPr>
        <p:spPr>
          <a:xfrm>
            <a:off x="3054096"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…/manifests</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Confirm the cluster now matches what Git…</a:t>
            </a:r>
          </a:p>
        </p:txBody>
      </p:sp>
      <p:sp>
        <p:nvSpPr>
          <p:cNvPr id="26" name="TextBox 25"/>
          <p:cNvSpPr txBox="1"/>
          <p:nvPr/>
        </p:nvSpPr>
        <p:spPr>
          <a:xfrm>
            <a:off x="5257800"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Introduce configuration drift with a manual…</a:t>
            </a:r>
          </a:p>
        </p:txBody>
      </p:sp>
      <p:sp>
        <p:nvSpPr>
          <p:cNvPr id="33" name="TextBox 32"/>
          <p:cNvSpPr txBox="1"/>
          <p:nvPr/>
        </p:nvSpPr>
        <p:spPr>
          <a:xfrm>
            <a:off x="7461504"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49808"/>
          </a:xfrm>
          <a:prstGeom prst="rect">
            <a:avLst/>
          </a:prstGeom>
          <a:noFill/>
        </p:spPr>
        <p:txBody>
          <a:bodyPr wrap="square" anchor="ctr">
            <a:spAutoFit/>
          </a:bodyPr>
          <a:lstStyle/>
          <a:p>
            <a:pPr algn="ctr">
              <a:spcAft>
                <a:spcPts val="0"/>
              </a:spcAft>
            </a:pPr>
            <a:r>
              <a:rPr sz="1100" b="1">
                <a:solidFill>
                  <a:srgbClr val="161B26"/>
                </a:solidFill>
                <a:latin typeface="Arial"/>
              </a:rPr>
              <a:t>Detect the drift by diffing the cluster…</a:t>
            </a:r>
          </a:p>
        </p:txBody>
      </p:sp>
      <p:sp>
        <p:nvSpPr>
          <p:cNvPr id="40" name="TextBox 39"/>
          <p:cNvSpPr txBox="1"/>
          <p:nvPr/>
        </p:nvSpPr>
        <p:spPr>
          <a:xfrm>
            <a:off x="9665208" y="3511296"/>
            <a:ext cx="1673352" cy="676656"/>
          </a:xfrm>
          <a:prstGeom prst="rect">
            <a:avLst/>
          </a:prstGeom>
          <a:noFill/>
        </p:spPr>
        <p:txBody>
          <a:bodyPr wrap="square" anchor="ctr">
            <a:spAutoFit/>
          </a:bodyPr>
          <a:lstStyle/>
          <a:p>
            <a:pPr algn="ctr">
              <a:spcAft>
                <a:spcPts val="0"/>
              </a:spcAft>
            </a:pPr>
            <a:r>
              <a:rPr sz="900" b="0">
                <a:solidFill>
                  <a:srgbClr val="5B6372"/>
                </a:solidFill>
                <a:latin typeface="Arial"/>
              </a:rPr>
              <a:t>kubectl …</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Implement regular system reviews to monitor solution status and adapt within a cloud native framework.</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Automate Delivery with GitOps and CI/CD, and Conduct a System Review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Initialise the manifest repository as the single source of truth</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cd gitops-repo &amp;&amp; git init &amp;&amp; git add . &amp;&amp; git commit -m 'Declare desired state'</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Apply the declared state to the cluster to establish the baseline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apply -f gitops-repo/manifests/</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Confirm the cluster now matches what Git declares</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deploy gitops-app -n kcna-lab -o jsonpath='{.spec.replicas}'</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Introduce configuration drift with a manual out-of-band change</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scale deploy gitops-app -n kcna-lab --replicas=7</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ransition spd="fast" advClick="1">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Automate Delivery with GitOps and CI/CD, and Conduct a System Review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Detect the drift by diffing the cluster against the repository</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diff -f gitops-repo/manifests/deployment.yaml || true</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Run the reconciliation loop and watch the drift be corrected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bash reconcile.sh</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5" name="TextBox 24"/>
          <p:cNvSpPr txBox="1"/>
          <p:nvPr/>
        </p:nvSpPr>
        <p:spPr>
          <a:xfrm>
            <a:off x="1481328" y="4059936"/>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Confirm the cluster was returned to the declared state automatically</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kubectl get deploy gitops-app -n kcna-lab -o jsonpath='{.spec.replicas}'</a:t>
            </a:r>
          </a:p>
        </p:txBody>
      </p:sp>
      <p:sp>
        <p:nvSpPr>
          <p:cNvPr id="28" name="Rectangle 27"/>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2" name="TextBox 31"/>
          <p:cNvSpPr txBox="1"/>
          <p:nvPr/>
        </p:nvSpPr>
        <p:spPr>
          <a:xfrm>
            <a:off x="1481328" y="5175504"/>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Change the desired state in Git and let reconciliation roll it out</a:t>
            </a:r>
          </a:p>
        </p:txBody>
      </p:sp>
      <p:sp>
        <p:nvSpPr>
          <p:cNvPr id="33" name="Rectangle 32"/>
          <p:cNvSpPr/>
          <p:nvPr/>
        </p:nvSpPr>
        <p:spPr>
          <a:xfrm>
            <a:off x="1481328" y="5504688"/>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504688"/>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cd gitops-repo &amp;&amp; sed -i.bak 's/replicas: 3/replicas: 4/' manifests/deployment.yaml &amp;&amp; git co...</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ransition spd="fast" advClick="1">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Automate Delivery with GitOps and CI/CD, and Conduct a System Review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28800"/>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Walk the CI/CD pipeline and identify which stage is CI and which is CD</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cat pipeline.yaml</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2944368"/>
            <a:ext cx="9692640" cy="310896"/>
          </a:xfrm>
          <a:prstGeom prst="rect">
            <a:avLst/>
          </a:prstGeom>
          <a:noFill/>
        </p:spPr>
        <p:txBody>
          <a:bodyPr wrap="square" anchor="t">
            <a:spAutoFit/>
          </a:bodyPr>
          <a:lstStyle/>
          <a:p>
            <a:pPr algn="l">
              <a:spcAft>
                <a:spcPts val="400"/>
              </a:spcAft>
            </a:pPr>
            <a:r>
              <a:rPr sz="1250" b="1">
                <a:solidFill>
                  <a:srgbClr val="161B26"/>
                </a:solidFill>
                <a:latin typeface="Arial"/>
              </a:rPr>
              <a:t>Conduct the system review against the SLOs and record the adaptations</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400"/>
              </a:spcAft>
            </a:pPr>
            <a:r>
              <a:rPr sz="1050" b="0">
                <a:solidFill>
                  <a:srgbClr val="9CDCFE"/>
                </a:solidFill>
                <a:latin typeface="Arial"/>
              </a:rPr>
              <a:t>$ column -s, -t slo-targets.csv &amp;&amp; cat system-review-report.md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ransition spd="fast" advClick="1">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Automate Delivery with GitOps and CI/CD, and Conduct a System Review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After the manual scale to 7, the reconciliation loop restores the replica count declared in Git; after committing replicas: 4, the same loop rolls the change out — and your system-review-report.md lists at least three evidence-backed adaptations against the breached SLOs.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kubectl diff exits non-zero</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That is expected — a non-zero exit means drift was found.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Reconcile does not revert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it from the lab folder so gitops-repo/manifests resolves.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git commit rejected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Set an identity: git config user.email and user.name in the repo.</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spd="fast" advClick="1">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Recap — Kubernetes Application Deployment and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Implement a controlled release and roll it back, monitoring solution status throughout.</a:t>
            </a:r>
          </a:p>
          <a:p>
            <a:pPr>
              <a:spcAft>
                <a:spcPts val="1000"/>
              </a:spcAft>
            </a:pPr>
            <a:r>
              <a:rPr sz="1700" b="0">
                <a:solidFill>
                  <a:srgbClr val="161B26"/>
                </a:solidFill>
                <a:latin typeface="Arial"/>
              </a:rPr>
              <a:t>•  You can now: Package and parameterise a solution so it can be delivered repeatably across environments.</a:t>
            </a:r>
          </a:p>
          <a:p>
            <a:pPr>
              <a:spcAft>
                <a:spcPts val="1000"/>
              </a:spcAft>
            </a:pPr>
            <a:r>
              <a:rPr sz="1700" b="0">
                <a:solidFill>
                  <a:srgbClr val="161B26"/>
                </a:solidFill>
                <a:latin typeface="Arial"/>
              </a:rPr>
              <a:t>•  You can now: Implement regular system reviews to monitor solution status and adapt within a cloud native framework.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transition spd="fast" advClick="1">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ransition spd="med" advClick="1">
    <p:push dir="l"/>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Continue Your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Official documentation</a:t>
            </a:r>
          </a:p>
          <a:p>
            <a:pPr algn="l">
              <a:spcAft>
                <a:spcPts val="300"/>
              </a:spcAft>
            </a:pPr>
            <a:r>
              <a:rPr sz="1200" b="0">
                <a:solidFill>
                  <a:srgbClr val="5B6372"/>
                </a:solidFill>
                <a:latin typeface="Arial"/>
              </a:rPr>
              <a:t>https://kubernetes.io/docs/ — the reference for every object and field you met this course.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Sit the KCNA exam</a:t>
            </a:r>
          </a:p>
          <a:p>
            <a:pPr algn="l">
              <a:spcAft>
                <a:spcPts val="300"/>
              </a:spcAft>
            </a:pPr>
            <a:r>
              <a:rPr sz="1200" b="0">
                <a:solidFill>
                  <a:srgbClr val="5B6372"/>
                </a:solidFill>
                <a:latin typeface="Arial"/>
              </a:rPr>
              <a:t>This course is aligned to the five CNCF KCNA domains and their weightings — book while it is fresh.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Rebuild the labs</a:t>
            </a:r>
          </a:p>
          <a:p>
            <a:pPr algn="l">
              <a:spcAft>
                <a:spcPts val="300"/>
              </a:spcAft>
            </a:pPr>
            <a:r>
              <a:rPr sz="1200" b="0">
                <a:solidFill>
                  <a:srgbClr val="5B6372"/>
                </a:solidFill>
                <a:latin typeface="Arial"/>
              </a:rPr>
              <a:t>Redo each lab from an empty folder until writing the manifests is automatic.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Run a real cluster</a:t>
            </a:r>
          </a:p>
          <a:p>
            <a:pPr algn="l">
              <a:spcAft>
                <a:spcPts val="300"/>
              </a:spcAft>
            </a:pPr>
            <a:r>
              <a:rPr sz="1200" b="0">
                <a:solidFill>
                  <a:srgbClr val="5B6372"/>
                </a:solidFill>
                <a:latin typeface="Arial"/>
              </a:rPr>
              <a:t>Move from minikube to a managed cluster — EKS, AKS or GKE — and repeat Topics 3 to 5.</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Adopt GitOps</a:t>
            </a:r>
          </a:p>
          <a:p>
            <a:pPr algn="l">
              <a:spcAft>
                <a:spcPts val="300"/>
              </a:spcAft>
            </a:pPr>
            <a:r>
              <a:rPr sz="1200" b="0">
                <a:solidFill>
                  <a:srgbClr val="5B6372"/>
                </a:solidFill>
                <a:latin typeface="Arial"/>
              </a:rPr>
              <a:t>Put your manifests in Git and install Argo CD or Flux to reconcile them for real.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Join the community</a:t>
            </a:r>
          </a:p>
          <a:p>
            <a:pPr algn="l">
              <a:spcAft>
                <a:spcPts val="300"/>
              </a:spcAft>
            </a:pPr>
            <a:r>
              <a:rPr sz="1200" b="0">
                <a:solidFill>
                  <a:srgbClr val="5B6372"/>
                </a:solidFill>
                <a:latin typeface="Arial"/>
              </a:rPr>
              <a:t>CNCF Slack, KubeCon talks and the Kubernetes SIGs are all open to you.</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ransition spd="fast" advClick="1">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WITH TERTIARY INFOTECH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Docker Container Management — build, ship and run containers with confidence.</a:t>
            </a:r>
          </a:p>
          <a:p>
            <a:pPr algn="l">
              <a:spcAft>
                <a:spcPts val="300"/>
              </a:spcAft>
            </a:pPr>
            <a:r>
              <a:rPr sz="1300" b="0">
                <a:solidFill>
                  <a:srgbClr val="5B6372"/>
                </a:solidFill>
                <a:latin typeface="Arial"/>
              </a:rPr>
              <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Certified Kubernetes Administrator (CKA) — take your cluster operations to production depth.</a:t>
            </a:r>
          </a:p>
          <a:p>
            <a:pPr algn="l">
              <a:spcAft>
                <a:spcPts val="300"/>
              </a:spcAft>
            </a:pPr>
            <a:r>
              <a:rPr sz="1300" b="0">
                <a:solidFill>
                  <a:srgbClr val="5B6372"/>
                </a:solidFill>
                <a:latin typeface="Arial"/>
              </a:rPr>
              <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DevOps with CI/CD Pipelines — automate build, test and deployment end to end.</a:t>
            </a:r>
          </a:p>
          <a:p>
            <a:pPr algn="l">
              <a:spcAft>
                <a:spcPts val="300"/>
              </a:spcAft>
            </a:pPr>
            <a:r>
              <a:rPr sz="1300" b="0">
                <a:solidFill>
                  <a:srgbClr val="5B6372"/>
                </a:solidFill>
                <a:latin typeface="Arial"/>
              </a:rPr>
              <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AWS / Azure Cloud Architect — run cloud native workloads on managed Kubernetes.</a:t>
            </a:r>
          </a:p>
          <a:p>
            <a:pPr algn="l">
              <a:spcAft>
                <a:spcPts val="300"/>
              </a:spcAft>
            </a:pPr>
            <a:r>
              <a:rPr sz="1300" b="0">
                <a:solidFill>
                  <a:srgbClr val="5B6372"/>
                </a:solidFill>
                <a:latin typeface="Arial"/>
              </a:rPr>
              <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Terraform Infrastructure as Code — provision the clusters your applications run on.</a:t>
            </a:r>
          </a:p>
          <a:p>
            <a:pPr algn="l">
              <a:spcAft>
                <a:spcPts val="300"/>
              </a:spcAft>
            </a:pPr>
            <a:r>
              <a:rPr sz="1300" b="0">
                <a:solidFill>
                  <a:srgbClr val="5B6372"/>
                </a:solidFill>
                <a:latin typeface="Arial"/>
              </a:rPr>
              <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ransition spd="fast" advClick="1">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Email</a:t>
            </a:r>
          </a:p>
          <a:p>
            <a:pPr algn="l">
              <a:spcAft>
                <a:spcPts val="300"/>
              </a:spcAft>
            </a:pPr>
            <a:r>
              <a:rPr sz="1200" b="0">
                <a:solidFill>
                  <a:srgbClr val="5B6372"/>
                </a:solidFill>
                <a:latin typeface="Arial"/>
              </a:rPr>
              <a:t>enquiry@tertiaryinfotech.com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Telephone</a:t>
            </a:r>
          </a:p>
          <a:p>
            <a:pPr algn="l">
              <a:spcAft>
                <a:spcPts val="300"/>
              </a:spcAft>
            </a:pPr>
            <a:r>
              <a:rPr sz="1200" b="0">
                <a:solidFill>
                  <a:srgbClr val="5B6372"/>
                </a:solidFill>
                <a:latin typeface="Arial"/>
              </a:rPr>
              <a:t>+65 6100 0613</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Website</a:t>
            </a:r>
          </a:p>
          <a:p>
            <a:pPr algn="l">
              <a:spcAft>
                <a:spcPts val="300"/>
              </a:spcAft>
            </a:pPr>
            <a:r>
              <a:rPr sz="1200" b="0">
                <a:solidFill>
                  <a:srgbClr val="5B6372"/>
                </a:solidFill>
                <a:latin typeface="Arial"/>
              </a:rPr>
              <a:t>www.tertiarycourses.com.sg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LMS / TMS</a:t>
            </a:r>
          </a:p>
          <a:p>
            <a:pPr algn="l">
              <a:spcAft>
                <a:spcPts val="300"/>
              </a:spcAft>
            </a:pPr>
            <a:r>
              <a:rPr sz="1200" b="0">
                <a:solidFill>
                  <a:srgbClr val="5B6372"/>
                </a:solidFill>
                <a:latin typeface="Arial"/>
              </a:rPr>
              <a:t>https://lms-tms.tertiaryinfotech.com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Course page</a:t>
            </a:r>
          </a:p>
          <a:p>
            <a:pPr algn="l">
              <a:spcAft>
                <a:spcPts val="300"/>
              </a:spcAft>
            </a:pPr>
            <a:r>
              <a:rPr sz="1200" b="0">
                <a:solidFill>
                  <a:srgbClr val="5B6372"/>
                </a:solidFill>
                <a:latin typeface="Arial"/>
              </a:rPr>
              <a:t>https://www.tertiarycourses.com.sg/kubernetes-fundamentals-for-beginners.html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Lab repository</a:t>
            </a:r>
          </a:p>
          <a:p>
            <a:pPr algn="l">
              <a:spcAft>
                <a:spcPts val="300"/>
              </a:spcAft>
            </a:pPr>
            <a:r>
              <a:rPr sz="1200" b="0">
                <a:solidFill>
                  <a:srgbClr val="5B6372"/>
                </a:solidFill>
                <a:latin typeface="Arial"/>
              </a:rPr>
              <a:t>https://github.com/tertiarycourses/C742-Kubernetes-Fudamentals-for-Beginners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spd="fast" advClick="1">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YOU LEAVE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Feedback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Share your feedback</a:t>
            </a:r>
          </a:p>
          <a:p>
            <a:pPr algn="l">
              <a:spcAft>
                <a:spcPts val="300"/>
              </a:spcAft>
            </a:pPr>
            <a:r>
              <a:rPr sz="1300" b="0">
                <a:solidFill>
                  <a:srgbClr val="5B6372"/>
                </a:solidFill>
                <a:latin typeface="Arial"/>
              </a:rPr>
              <a:t>Please complete the course feedback form before you leave — it helps us improve this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Tell us what worked</a:t>
            </a:r>
          </a:p>
          <a:p>
            <a:pPr algn="l">
              <a:spcAft>
                <a:spcPts val="300"/>
              </a:spcAft>
            </a:pPr>
            <a:r>
              <a:rPr sz="1300" b="0">
                <a:solidFill>
                  <a:srgbClr val="5B6372"/>
                </a:solidFill>
                <a:latin typeface="Arial"/>
              </a:rPr>
              <a:t>Let us know which labs and topics helped most, and what we could do better.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Certificate of completion</a:t>
            </a:r>
          </a:p>
          <a:p>
            <a:pPr algn="l">
              <a:spcAft>
                <a:spcPts val="300"/>
              </a:spcAft>
            </a:pPr>
            <a:r>
              <a:rPr sz="1300" b="0">
                <a:solidFill>
                  <a:srgbClr val="5B6372"/>
                </a:solidFill>
                <a:latin typeface="Arial"/>
              </a:rPr>
              <a:t>Your certificate of completion will be emailed to you after the course.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Keep in touch</a:t>
            </a:r>
          </a:p>
          <a:p>
            <a:pPr algn="l">
              <a:spcAft>
                <a:spcPts val="300"/>
              </a:spcAft>
            </a:pPr>
            <a:r>
              <a:rPr sz="1300" b="0">
                <a:solidFill>
                  <a:srgbClr val="5B6372"/>
                </a:solidFill>
                <a:latin typeface="Arial"/>
              </a:rPr>
              <a:t>Questions after the course? Email enquiry@tertiaryinfotech.com.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ransition spd="fast" advClick="1">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HAPPY ORCHESTRATING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design, deploy, observe and operate containerised applications on Kubernetes using cloud native architecture.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Kubernetes Fundamentals for Beginners  ·  C742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